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30275200" cx="40366950"/>
  <p:notesSz cx="7559675" cy="10691800"/>
  <p:embeddedFontLs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781">
          <p15:clr>
            <a:srgbClr val="A4A3A4"/>
          </p15:clr>
        </p15:guide>
        <p15:guide id="2" pos="24804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gX3DAX4p/BR77oXRNtCoobAd6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781" orient="horz"/>
        <p:guide pos="248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">
  <p:cSld name="JKU Log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6352" y="6460302"/>
            <a:ext cx="29134246" cy="17354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0" type="dt"/>
          </p:nvPr>
        </p:nvSpPr>
        <p:spPr>
          <a:xfrm>
            <a:off x="3027985" y="27584640"/>
            <a:ext cx="4877073" cy="20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00" lIns="227150" spcFirstLastPara="1" rIns="227150" wrap="square" tIns="113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28931421" y="27584640"/>
            <a:ext cx="8407346" cy="20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00" lIns="227150" spcFirstLastPara="1" rIns="227150" wrap="square" tIns="1134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70"/>
              <a:buNone/>
              <a:defRPr b="1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30"/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b="34352" l="6391" r="13244" t="9873"/>
          <a:stretch/>
        </p:blipFill>
        <p:spPr>
          <a:xfrm>
            <a:off x="3027644" y="27914404"/>
            <a:ext cx="3747230" cy="1686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2018201" y="7084080"/>
            <a:ext cx="3633000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2018201" y="7084080"/>
            <a:ext cx="3633000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2018201" y="7084080"/>
            <a:ext cx="1772903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20634222" y="7084080"/>
            <a:ext cx="1772903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3027643" y="9405360"/>
            <a:ext cx="34311124" cy="3007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2018201" y="708408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2018201" y="1625544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20634222" y="7084080"/>
            <a:ext cx="1772903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2018201" y="7084080"/>
            <a:ext cx="1772903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20634222" y="708408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3" type="body"/>
          </p:nvPr>
        </p:nvSpPr>
        <p:spPr>
          <a:xfrm>
            <a:off x="20634222" y="1625544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2018201" y="708408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2" type="body"/>
          </p:nvPr>
        </p:nvSpPr>
        <p:spPr>
          <a:xfrm>
            <a:off x="20634222" y="708408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3" type="body"/>
          </p:nvPr>
        </p:nvSpPr>
        <p:spPr>
          <a:xfrm>
            <a:off x="2018201" y="16255440"/>
            <a:ext cx="3633000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2018201" y="7084080"/>
            <a:ext cx="3633000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2" type="body"/>
          </p:nvPr>
        </p:nvSpPr>
        <p:spPr>
          <a:xfrm>
            <a:off x="2018201" y="16255440"/>
            <a:ext cx="3633000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2018201" y="708408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2" type="body"/>
          </p:nvPr>
        </p:nvSpPr>
        <p:spPr>
          <a:xfrm>
            <a:off x="20634222" y="708408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3" type="body"/>
          </p:nvPr>
        </p:nvSpPr>
        <p:spPr>
          <a:xfrm>
            <a:off x="20634222" y="1625544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4" type="body"/>
          </p:nvPr>
        </p:nvSpPr>
        <p:spPr>
          <a:xfrm>
            <a:off x="2018201" y="16255440"/>
            <a:ext cx="17729039" cy="8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2018201" y="7084080"/>
            <a:ext cx="3633000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2018201" y="7084080"/>
            <a:ext cx="36330009" cy="17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6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7386" y="7083720"/>
            <a:ext cx="20910955" cy="175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7386" y="7083720"/>
            <a:ext cx="20910955" cy="175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2425028" y="2876984"/>
            <a:ext cx="35043819" cy="4143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44"/>
              <a:buFont typeface="Arial Black"/>
              <a:buNone/>
              <a:defRPr b="0" i="0" sz="13244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2364654" y="7846459"/>
            <a:ext cx="35042963" cy="1955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733177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6"/>
              <a:buFont typeface="Noto Sans Symbols"/>
              <a:buChar char="⬛"/>
              <a:defRPr b="0" i="0" sz="882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82713" lvl="1" marL="914400" marR="0" rtl="0" algn="l">
              <a:lnSpc>
                <a:spcPct val="105000"/>
              </a:lnSpc>
              <a:spcBef>
                <a:spcPts val="2649"/>
              </a:spcBef>
              <a:spcAft>
                <a:spcPts val="0"/>
              </a:spcAft>
              <a:buClr>
                <a:schemeClr val="dk1"/>
              </a:buClr>
              <a:buSzPts val="7151"/>
              <a:buFont typeface="Noto Sans Symbols"/>
              <a:buChar char="⬜"/>
              <a:defRPr b="0" i="0" sz="79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77100" lvl="2" marL="1371600" marR="0" rtl="0" algn="l">
              <a:lnSpc>
                <a:spcPct val="105000"/>
              </a:lnSpc>
              <a:spcBef>
                <a:spcPts val="2649"/>
              </a:spcBef>
              <a:spcAft>
                <a:spcPts val="0"/>
              </a:spcAft>
              <a:buClr>
                <a:schemeClr val="dk1"/>
              </a:buClr>
              <a:buSzPts val="7063"/>
              <a:buFont typeface="Noto Sans Symbols"/>
              <a:buChar char="⬤"/>
              <a:defRPr b="0" i="0" sz="70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49097" lvl="3" marL="1828800" marR="0" rtl="0" algn="l">
              <a:lnSpc>
                <a:spcPct val="105000"/>
              </a:lnSpc>
              <a:spcBef>
                <a:spcPts val="2649"/>
              </a:spcBef>
              <a:spcAft>
                <a:spcPts val="0"/>
              </a:spcAft>
              <a:buClr>
                <a:schemeClr val="dk1"/>
              </a:buClr>
              <a:buSzPts val="6622"/>
              <a:buFont typeface="Noto Sans Symbols"/>
              <a:buChar char="🞅"/>
              <a:defRPr b="0" i="0" sz="66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21029" lvl="4" marL="2286000" marR="0" rtl="0" algn="l">
              <a:lnSpc>
                <a:spcPct val="105000"/>
              </a:lnSpc>
              <a:spcBef>
                <a:spcPts val="2649"/>
              </a:spcBef>
              <a:spcAft>
                <a:spcPts val="0"/>
              </a:spcAft>
              <a:buClr>
                <a:schemeClr val="dk1"/>
              </a:buClr>
              <a:buSzPts val="6180"/>
              <a:buFont typeface="Noto Sans Symbols"/>
              <a:buChar char="⬥"/>
              <a:defRPr b="0" i="0" sz="61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733170" lvl="5" marL="2743200" marR="0" rtl="0" algn="l">
              <a:lnSpc>
                <a:spcPct val="90000"/>
              </a:lnSpc>
              <a:spcBef>
                <a:spcPts val="2649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b="0" i="0" sz="79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733170" lvl="6" marL="3200400" marR="0" rtl="0" algn="l">
              <a:lnSpc>
                <a:spcPct val="90000"/>
              </a:lnSpc>
              <a:spcBef>
                <a:spcPts val="2207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b="0" i="0" sz="79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733170" lvl="7" marL="3657600" marR="0" rtl="0" algn="l">
              <a:lnSpc>
                <a:spcPct val="90000"/>
              </a:lnSpc>
              <a:spcBef>
                <a:spcPts val="2207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b="0" i="0" sz="79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733171" lvl="8" marL="4114800" marR="0" rtl="0" algn="l">
              <a:lnSpc>
                <a:spcPct val="90000"/>
              </a:lnSpc>
              <a:spcBef>
                <a:spcPts val="2207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b="0" i="0" sz="79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12742401" y="28240975"/>
            <a:ext cx="5180129" cy="1611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18865942" y="28233647"/>
            <a:ext cx="13623846" cy="1611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15"/>
              <a:buFont typeface="Arial"/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35704426" y="28233647"/>
            <a:ext cx="2270641" cy="1611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4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78">
          <p15:clr>
            <a:srgbClr val="F26B43"/>
          </p15:clr>
        </p15:guide>
        <p15:guide id="2" pos="4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027643" y="9405360"/>
            <a:ext cx="34311124" cy="64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400" lIns="227150" spcFirstLastPara="1" rIns="227150" wrap="square" tIns="1134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0" type="dt"/>
          </p:nvPr>
        </p:nvSpPr>
        <p:spPr>
          <a:xfrm>
            <a:off x="3027985" y="27584640"/>
            <a:ext cx="4877073" cy="20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00" lIns="227150" spcFirstLastPara="1" rIns="227150" wrap="square" tIns="113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13791495" y="27584640"/>
            <a:ext cx="12783421" cy="20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00" lIns="227150" spcFirstLastPara="1" rIns="227150" wrap="square" tIns="113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28931421" y="27584640"/>
            <a:ext cx="8407346" cy="20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00" lIns="227150" spcFirstLastPara="1" rIns="227150" wrap="square" tIns="113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0"/>
              <a:buFont typeface="Arial"/>
              <a:buNone/>
              <a:defRPr b="0" i="0" sz="47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3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/>
          <p:nvPr/>
        </p:nvSpPr>
        <p:spPr>
          <a:xfrm rot="10800000">
            <a:off x="0" y="15336480"/>
            <a:ext cx="40400432" cy="14938733"/>
          </a:xfrm>
          <a:custGeom>
            <a:rect b="b" l="l" r="r" t="t"/>
            <a:pathLst>
              <a:path extrusionOk="0" h="3188466" w="12202113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3400" lIns="86850" spcFirstLastPara="1" rIns="86850" wrap="square" tIns="4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1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2775228" y="17137771"/>
            <a:ext cx="16263976" cy="1006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50" spcFirstLastPara="1" rIns="86850" wrap="square" tIns="43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Leadership in der Digitalen Transformation: </a:t>
            </a:r>
            <a:endParaRPr b="0" i="0" sz="1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b="1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Ein IDG-basiertes Kompetenz-Framework für technische Führungskräfte </a:t>
            </a:r>
            <a:endParaRPr b="0" i="0" sz="1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7227" y="5983492"/>
            <a:ext cx="32696366" cy="454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22703495" y="17048085"/>
            <a:ext cx="14888227" cy="1006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50" spcFirstLastPara="1" rIns="86850" wrap="square" tIns="43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Gruppe G4</a:t>
            </a:r>
            <a:b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750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Jana Sieberer (PL)</a:t>
            </a:r>
            <a:b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Emilia Peham (PL-StV)</a:t>
            </a:r>
            <a:b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Xinyue Li</a:t>
            </a:r>
            <a:b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Kerstin Wiesinger</a:t>
            </a:r>
            <a:b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Milan Keta </a:t>
            </a:r>
            <a:b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Betreuer: David Christoph Rückel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/>
          <p:nvPr/>
        </p:nvSpPr>
        <p:spPr>
          <a:xfrm>
            <a:off x="0" y="0"/>
            <a:ext cx="18718180" cy="30275213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3400" lIns="86850" spcFirstLastPara="1" rIns="86850" wrap="square" tIns="4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1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1223750" y="2067050"/>
            <a:ext cx="13767300" cy="26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00" lIns="86850" spcFirstLastPara="1" rIns="86850" wrap="square" tIns="43400">
            <a:norm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Forschungsproblem</a:t>
            </a:r>
            <a:endParaRPr sz="10500"/>
          </a:p>
          <a:p>
            <a:pPr indent="0" lvl="0" marL="0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t/>
            </a:r>
            <a:endParaRPr b="0" i="0" sz="61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Trotz technologischer Lösungen für die SDGs (Sustainable Development Goals) mangelt es oft an der inneren Kapazität, um mit der Komplexität digitaler Transformationsinitiativen umzugehen</a:t>
            </a:r>
            <a:endParaRPr sz="7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Technik allein reicht für erfolgreiche digitalen Transformation nicht mehr aus</a:t>
            </a:r>
            <a:endParaRPr sz="7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Führungskräfte benötigen „Inner Skills“, um menschlichen Faktor erfolgreich zu integrieren</a:t>
            </a:r>
            <a:endParaRPr sz="7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Fehlendes empirisches Wissen dazu, welche IDG-Kompetenzen für CIO, CDO, CTO relevant sind</a:t>
            </a:r>
            <a:endParaRPr sz="7200"/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t/>
            </a:r>
            <a:endParaRPr b="0" i="0" sz="430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9568" y="6144091"/>
            <a:ext cx="20379287" cy="1808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 rot="-5400000">
            <a:off x="-5950064" y="5950061"/>
            <a:ext cx="30275213" cy="18375086"/>
          </a:xfrm>
          <a:custGeom>
            <a:rect b="b" l="l" r="r" t="t"/>
            <a:pathLst>
              <a:path extrusionOk="0" h="3188466" w="12202113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32600" lIns="65225" spcFirstLastPara="1" rIns="65225" wrap="square" tIns="32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8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/>
          <p:nvPr/>
        </p:nvSpPr>
        <p:spPr>
          <a:xfrm flipH="1" rot="5400000">
            <a:off x="20851924" y="10760184"/>
            <a:ext cx="30275213" cy="8754835"/>
          </a:xfrm>
          <a:custGeom>
            <a:rect b="b" l="l" r="r" t="t"/>
            <a:pathLst>
              <a:path extrusionOk="0" h="3188466" w="12202113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32600" lIns="65225" spcFirstLastPara="1" rIns="65225" wrap="square" tIns="32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8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55109" y="13447248"/>
            <a:ext cx="11676981" cy="1167698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3224000" y="5751476"/>
            <a:ext cx="11927100" cy="137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Forschungsziel</a:t>
            </a:r>
            <a:endParaRPr b="0" i="0" sz="10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030" lvl="0" marL="61165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24"/>
              <a:buFont typeface="Noto Sans Symbols"/>
              <a:buNone/>
            </a:pPr>
            <a:r>
              <a:t/>
            </a:r>
            <a:endParaRPr sz="4624"/>
          </a:p>
          <a:p>
            <a:pPr indent="-318031" lvl="0" marL="611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24"/>
              <a:buFont typeface="Noto Sans Symbols"/>
              <a:buNone/>
            </a:pPr>
            <a:r>
              <a:t/>
            </a:r>
            <a:endParaRPr sz="4624"/>
          </a:p>
          <a:p>
            <a:pPr indent="0" lvl="0" marL="0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Identifikation notwendiger Kompetenzen der IDG für erfolgreichen menschenzentrierte digitale Transformation</a:t>
            </a:r>
            <a:endParaRPr sz="7200"/>
          </a:p>
          <a:p>
            <a:pPr indent="0" lvl="0" marL="0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Erstellung eines Frameworks der relevanten Fähigkeiten für technische Führungsrollen</a:t>
            </a:r>
            <a:endParaRPr sz="7200"/>
          </a:p>
          <a:p>
            <a:pPr indent="0" lvl="0" marL="0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None/>
            </a:pPr>
            <a:r>
              <a:t/>
            </a:r>
            <a:endParaRPr b="0" i="0" sz="46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None/>
            </a:pPr>
            <a:r>
              <a:t/>
            </a:r>
            <a:endParaRPr b="0" i="0" sz="7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None/>
            </a:pPr>
            <a:r>
              <a:t/>
            </a:r>
            <a:endParaRPr b="0" i="0" sz="6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1130" lvl="0" marL="611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Noto Sans Symbols"/>
              <a:buNone/>
            </a:pPr>
            <a:r>
              <a:t/>
            </a:r>
            <a:endParaRPr b="0" i="0" sz="6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031" lvl="0" marL="611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24"/>
              <a:buFont typeface="Noto Sans Symbols"/>
              <a:buNone/>
            </a:pPr>
            <a:r>
              <a:t/>
            </a:r>
            <a:endParaRPr b="0" i="0" sz="46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031" lvl="0" marL="611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24"/>
              <a:buFont typeface="Noto Sans Symbols"/>
              <a:buNone/>
            </a:pPr>
            <a:r>
              <a:t/>
            </a:r>
            <a:endParaRPr b="0" i="0" sz="46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3370" lvl="3" marL="611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10"/>
              <a:buFont typeface="Noto Sans Symbols"/>
              <a:buNone/>
            </a:pPr>
            <a:r>
              <a:t/>
            </a:r>
            <a:endParaRPr b="0" i="0" sz="39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3370" lvl="3" marL="611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10"/>
              <a:buFont typeface="Noto Sans Symbols"/>
              <a:buNone/>
            </a:pPr>
            <a:r>
              <a:t/>
            </a:r>
            <a:endParaRPr b="0" i="0" sz="39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15790" l="0" r="0" t="0"/>
          <a:stretch/>
        </p:blipFill>
        <p:spPr>
          <a:xfrm>
            <a:off x="10092" y="0"/>
            <a:ext cx="40362589" cy="19122992"/>
          </a:xfrm>
          <a:custGeom>
            <a:rect b="b" l="l" r="r" t="t"/>
            <a:pathLst>
              <a:path extrusionOk="0" h="4558430" w="12188952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 rot="5400000">
            <a:off x="11516277" y="23699519"/>
            <a:ext cx="5753433" cy="60551"/>
          </a:xfrm>
          <a:custGeom>
            <a:rect b="b" l="l" r="r" t="t"/>
            <a:pathLst>
              <a:path extrusionOk="0" fill="none" h="63725" w="6055043">
                <a:moveTo>
                  <a:pt x="0" y="0"/>
                </a:moveTo>
                <a:cubicBezTo>
                  <a:pt x="325060" y="-13562"/>
                  <a:pt x="400024" y="-38451"/>
                  <a:pt x="793883" y="0"/>
                </a:cubicBezTo>
                <a:cubicBezTo>
                  <a:pt x="1187742" y="38451"/>
                  <a:pt x="1174918" y="-10349"/>
                  <a:pt x="1285015" y="0"/>
                </a:cubicBezTo>
                <a:cubicBezTo>
                  <a:pt x="1395112" y="10349"/>
                  <a:pt x="1685135" y="29516"/>
                  <a:pt x="2018348" y="0"/>
                </a:cubicBezTo>
                <a:cubicBezTo>
                  <a:pt x="2351561" y="-29516"/>
                  <a:pt x="2607928" y="-5286"/>
                  <a:pt x="2812231" y="0"/>
                </a:cubicBezTo>
                <a:cubicBezTo>
                  <a:pt x="3016534" y="5286"/>
                  <a:pt x="3211002" y="21512"/>
                  <a:pt x="3545564" y="0"/>
                </a:cubicBezTo>
                <a:cubicBezTo>
                  <a:pt x="3880126" y="-21512"/>
                  <a:pt x="3932495" y="-19714"/>
                  <a:pt x="4157796" y="0"/>
                </a:cubicBezTo>
                <a:cubicBezTo>
                  <a:pt x="4383097" y="19714"/>
                  <a:pt x="4546844" y="30532"/>
                  <a:pt x="4891129" y="0"/>
                </a:cubicBezTo>
                <a:cubicBezTo>
                  <a:pt x="5235414" y="-30532"/>
                  <a:pt x="5670662" y="42187"/>
                  <a:pt x="6055043" y="0"/>
                </a:cubicBezTo>
                <a:cubicBezTo>
                  <a:pt x="6054072" y="23646"/>
                  <a:pt x="6057447" y="43406"/>
                  <a:pt x="6055043" y="63725"/>
                </a:cubicBezTo>
                <a:cubicBezTo>
                  <a:pt x="5786832" y="33325"/>
                  <a:pt x="5434790" y="101673"/>
                  <a:pt x="5261160" y="63725"/>
                </a:cubicBezTo>
                <a:cubicBezTo>
                  <a:pt x="5087530" y="25777"/>
                  <a:pt x="4819442" y="49740"/>
                  <a:pt x="4648927" y="63725"/>
                </a:cubicBezTo>
                <a:cubicBezTo>
                  <a:pt x="4478412" y="77710"/>
                  <a:pt x="4272085" y="46287"/>
                  <a:pt x="3915594" y="63725"/>
                </a:cubicBezTo>
                <a:cubicBezTo>
                  <a:pt x="3559103" y="81163"/>
                  <a:pt x="3568791" y="47065"/>
                  <a:pt x="3363913" y="63725"/>
                </a:cubicBezTo>
                <a:cubicBezTo>
                  <a:pt x="3159035" y="80385"/>
                  <a:pt x="3083041" y="67020"/>
                  <a:pt x="2872782" y="63725"/>
                </a:cubicBezTo>
                <a:cubicBezTo>
                  <a:pt x="2662523" y="60430"/>
                  <a:pt x="2501048" y="72529"/>
                  <a:pt x="2321100" y="63725"/>
                </a:cubicBezTo>
                <a:cubicBezTo>
                  <a:pt x="2141152" y="54921"/>
                  <a:pt x="1751985" y="67266"/>
                  <a:pt x="1587767" y="63725"/>
                </a:cubicBezTo>
                <a:cubicBezTo>
                  <a:pt x="1423549" y="60184"/>
                  <a:pt x="1304013" y="81081"/>
                  <a:pt x="1036085" y="63725"/>
                </a:cubicBezTo>
                <a:cubicBezTo>
                  <a:pt x="768157" y="46369"/>
                  <a:pt x="477088" y="25308"/>
                  <a:pt x="0" y="63725"/>
                </a:cubicBezTo>
                <a:cubicBezTo>
                  <a:pt x="1060" y="49091"/>
                  <a:pt x="-2932" y="18000"/>
                  <a:pt x="0" y="0"/>
                </a:cubicBezTo>
                <a:close/>
              </a:path>
              <a:path extrusionOk="0" h="63725" w="6055043">
                <a:moveTo>
                  <a:pt x="0" y="0"/>
                </a:moveTo>
                <a:cubicBezTo>
                  <a:pt x="216823" y="-10233"/>
                  <a:pt x="374791" y="19264"/>
                  <a:pt x="491131" y="0"/>
                </a:cubicBezTo>
                <a:cubicBezTo>
                  <a:pt x="607471" y="-19264"/>
                  <a:pt x="883167" y="-21726"/>
                  <a:pt x="1103363" y="0"/>
                </a:cubicBezTo>
                <a:cubicBezTo>
                  <a:pt x="1323559" y="21726"/>
                  <a:pt x="1526173" y="22979"/>
                  <a:pt x="1836696" y="0"/>
                </a:cubicBezTo>
                <a:cubicBezTo>
                  <a:pt x="2147219" y="-22979"/>
                  <a:pt x="2407807" y="983"/>
                  <a:pt x="2630580" y="0"/>
                </a:cubicBezTo>
                <a:cubicBezTo>
                  <a:pt x="2853353" y="-983"/>
                  <a:pt x="3148729" y="16804"/>
                  <a:pt x="3424463" y="0"/>
                </a:cubicBezTo>
                <a:cubicBezTo>
                  <a:pt x="3700197" y="-16804"/>
                  <a:pt x="3721157" y="-16680"/>
                  <a:pt x="3976145" y="0"/>
                </a:cubicBezTo>
                <a:cubicBezTo>
                  <a:pt x="4231133" y="16680"/>
                  <a:pt x="4401247" y="-14455"/>
                  <a:pt x="4588377" y="0"/>
                </a:cubicBezTo>
                <a:cubicBezTo>
                  <a:pt x="4775507" y="14455"/>
                  <a:pt x="5147092" y="-25884"/>
                  <a:pt x="5382260" y="0"/>
                </a:cubicBezTo>
                <a:cubicBezTo>
                  <a:pt x="5617428" y="25884"/>
                  <a:pt x="5755887" y="27379"/>
                  <a:pt x="6055043" y="0"/>
                </a:cubicBezTo>
                <a:cubicBezTo>
                  <a:pt x="6054180" y="29489"/>
                  <a:pt x="6052878" y="46130"/>
                  <a:pt x="6055043" y="63725"/>
                </a:cubicBezTo>
                <a:cubicBezTo>
                  <a:pt x="5886044" y="64897"/>
                  <a:pt x="5624276" y="52612"/>
                  <a:pt x="5382260" y="63725"/>
                </a:cubicBezTo>
                <a:cubicBezTo>
                  <a:pt x="5140244" y="74838"/>
                  <a:pt x="5073304" y="62530"/>
                  <a:pt x="4830579" y="63725"/>
                </a:cubicBezTo>
                <a:cubicBezTo>
                  <a:pt x="4587854" y="64920"/>
                  <a:pt x="4319109" y="80966"/>
                  <a:pt x="4036695" y="63725"/>
                </a:cubicBezTo>
                <a:cubicBezTo>
                  <a:pt x="3754281" y="46484"/>
                  <a:pt x="3655675" y="87562"/>
                  <a:pt x="3545564" y="63725"/>
                </a:cubicBezTo>
                <a:cubicBezTo>
                  <a:pt x="3435453" y="39888"/>
                  <a:pt x="3011092" y="87359"/>
                  <a:pt x="2751681" y="63725"/>
                </a:cubicBezTo>
                <a:cubicBezTo>
                  <a:pt x="2492270" y="40091"/>
                  <a:pt x="2370195" y="40129"/>
                  <a:pt x="2260549" y="63725"/>
                </a:cubicBezTo>
                <a:cubicBezTo>
                  <a:pt x="2150903" y="87321"/>
                  <a:pt x="1844609" y="85828"/>
                  <a:pt x="1708868" y="63725"/>
                </a:cubicBezTo>
                <a:cubicBezTo>
                  <a:pt x="1573127" y="41622"/>
                  <a:pt x="1198737" y="43502"/>
                  <a:pt x="975535" y="63725"/>
                </a:cubicBezTo>
                <a:cubicBezTo>
                  <a:pt x="752333" y="83948"/>
                  <a:pt x="447482" y="69396"/>
                  <a:pt x="0" y="63725"/>
                </a:cubicBezTo>
                <a:cubicBezTo>
                  <a:pt x="863" y="37207"/>
                  <a:pt x="-2604" y="156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00" lIns="86850" spcFirstLastPara="1" rIns="86850" wrap="square" tIns="4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1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5005139" y="19906316"/>
            <a:ext cx="24769848" cy="7646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50" spcFirstLastPara="1" rIns="86850" wrap="square" tIns="0">
            <a:spAutoFit/>
          </a:bodyPr>
          <a:lstStyle/>
          <a:p>
            <a:pPr indent="0" lvl="0" marL="0" rtl="0" algn="ctr"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150">
                <a:solidFill>
                  <a:schemeClr val="dk1"/>
                </a:solidFill>
              </a:rPr>
              <a:t>„Welche spezifischen Kompetenzen der Inner Development Goals sind für technische Führungsrollen (CIO, CDO, CTO) besonders relevant, um die digitale Transformation in Organisationen erfolgreich und menschzentriert zu steuern?“</a:t>
            </a:r>
            <a:endParaRPr b="0" i="0" sz="57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348913" y="23100829"/>
            <a:ext cx="201915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00" lIns="86850" spcFirstLastPara="1" rIns="86850" wrap="square" tIns="43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1">
                <a:solidFill>
                  <a:schemeClr val="dk1"/>
                </a:solidFill>
              </a:rPr>
              <a:t>Forschungsfrage</a:t>
            </a:r>
            <a:endParaRPr b="0" i="0" sz="1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Design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2000-02-09T15:01:13Z</dcterms:created>
  <dc:creator>Jay Buckley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MegaPrint Inc.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Benutzerdefiniert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</vt:i4>
  </property>
</Properties>
</file>