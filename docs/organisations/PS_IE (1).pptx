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5" r:id="rId2"/>
    <p:sldId id="266" r:id="rId3"/>
    <p:sldId id="267" r:id="rId4"/>
    <p:sldId id="269" r:id="rId5"/>
  </p:sldIdLst>
  <p:sldSz cx="42483088" cy="3027521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781" userDrawn="1">
          <p15:clr>
            <a:srgbClr val="A4A3A4"/>
          </p15:clr>
        </p15:guide>
        <p15:guide id="2" pos="261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23" d="100"/>
          <a:sy n="23" d="100"/>
        </p:scale>
        <p:origin x="1728" y="114"/>
      </p:cViewPr>
      <p:guideLst>
        <p:guide orient="horz" pos="11781"/>
        <p:guide pos="261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65371-F726-4D4D-82A1-F7770DABE70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336675"/>
            <a:ext cx="5064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5995D-34A1-4B20-902D-5A5CB6AB63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8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86360" y="9405360"/>
            <a:ext cx="36109800" cy="6488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2124000" y="7084080"/>
            <a:ext cx="38234520" cy="17559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186360" y="9405360"/>
            <a:ext cx="36109800" cy="6488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124000" y="7084080"/>
            <a:ext cx="38234520" cy="175590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86360" y="9405360"/>
            <a:ext cx="36109800" cy="6488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2124000" y="7084080"/>
            <a:ext cx="18658440" cy="175590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21715920" y="7084080"/>
            <a:ext cx="18658440" cy="175590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86360" y="9405360"/>
            <a:ext cx="36109800" cy="6488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3186360" y="9405360"/>
            <a:ext cx="36109800" cy="300769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86360" y="9405360"/>
            <a:ext cx="36109800" cy="6488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2124000" y="7084080"/>
            <a:ext cx="18658440" cy="83754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2124000" y="16255440"/>
            <a:ext cx="18658440" cy="83754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21715920" y="7084080"/>
            <a:ext cx="18658440" cy="175590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86360" y="9405360"/>
            <a:ext cx="36109800" cy="6488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2124000" y="7084080"/>
            <a:ext cx="18658440" cy="175590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21715920" y="7084080"/>
            <a:ext cx="18658440" cy="83754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21715920" y="16255440"/>
            <a:ext cx="18658440" cy="83754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86360" y="9405360"/>
            <a:ext cx="36109800" cy="6488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2124000" y="7084080"/>
            <a:ext cx="18658440" cy="83754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21715920" y="7084080"/>
            <a:ext cx="18658440" cy="83754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2124000" y="16255440"/>
            <a:ext cx="38234520" cy="83754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86360" y="9405360"/>
            <a:ext cx="36109800" cy="6488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2124000" y="7084080"/>
            <a:ext cx="38234520" cy="83754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2124000" y="16255440"/>
            <a:ext cx="38234520" cy="83754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86360" y="9405360"/>
            <a:ext cx="36109800" cy="6488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2124000" y="7084080"/>
            <a:ext cx="18658440" cy="83754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21715920" y="7084080"/>
            <a:ext cx="18658440" cy="83754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21715920" y="16255440"/>
            <a:ext cx="18658440" cy="83754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2124000" y="16255440"/>
            <a:ext cx="18658440" cy="83754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86360" y="9405360"/>
            <a:ext cx="36109800" cy="6488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2124000" y="7084080"/>
            <a:ext cx="38234520" cy="175590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2124000" y="7084080"/>
            <a:ext cx="38234520" cy="175590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36" name="Picture 35"/>
          <p:cNvPicPr/>
          <p:nvPr/>
        </p:nvPicPr>
        <p:blipFill>
          <a:blip r:embed="rId2"/>
          <a:stretch/>
        </p:blipFill>
        <p:spPr>
          <a:xfrm>
            <a:off x="10237320" y="7083720"/>
            <a:ext cx="22007160" cy="17559000"/>
          </a:xfrm>
          <a:prstGeom prst="rect">
            <a:avLst/>
          </a:prstGeom>
          <a:ln>
            <a:noFill/>
          </a:ln>
        </p:spPr>
      </p:pic>
      <p:pic>
        <p:nvPicPr>
          <p:cNvPr id="37" name="Picture 36"/>
          <p:cNvPicPr/>
          <p:nvPr/>
        </p:nvPicPr>
        <p:blipFill>
          <a:blip r:embed="rId2"/>
          <a:stretch/>
        </p:blipFill>
        <p:spPr>
          <a:xfrm>
            <a:off x="10237320" y="7083720"/>
            <a:ext cx="22007160" cy="17559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86360" y="9405360"/>
            <a:ext cx="36109800" cy="6488280"/>
          </a:xfrm>
          <a:prstGeom prst="rect">
            <a:avLst/>
          </a:prstGeom>
        </p:spPr>
        <p:txBody>
          <a:bodyPr lIns="227160" tIns="113400" rIns="227160" bIns="113400" anchor="ctr"/>
          <a:lstStyle/>
          <a:p>
            <a:pPr algn="ctr">
              <a:lnSpc>
                <a:spcPct val="100000"/>
              </a:lnSpc>
            </a:pPr>
            <a:r>
              <a:rPr lang="en-US" sz="1608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ＭＳ Ｐゴシック"/>
              </a:rPr>
              <a:t>Titelmasterformat durch Klicken bearbeiten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/>
          </p:nvPr>
        </p:nvSpPr>
        <p:spPr>
          <a:xfrm>
            <a:off x="3186720" y="27584640"/>
            <a:ext cx="8848080" cy="2016360"/>
          </a:xfrm>
          <a:prstGeom prst="rect">
            <a:avLst/>
          </a:prstGeom>
        </p:spPr>
        <p:txBody>
          <a:bodyPr lIns="227160" tIns="113400" rIns="227160" bIns="1134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14514480" y="27584640"/>
            <a:ext cx="13453560" cy="2016360"/>
          </a:xfrm>
          <a:prstGeom prst="rect">
            <a:avLst/>
          </a:prstGeom>
        </p:spPr>
        <p:txBody>
          <a:bodyPr lIns="227160" tIns="113400" rIns="227160" bIns="1134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30448080" y="27584640"/>
            <a:ext cx="8848080" cy="2016360"/>
          </a:xfrm>
          <a:prstGeom prst="rect">
            <a:avLst/>
          </a:prstGeom>
        </p:spPr>
        <p:txBody>
          <a:bodyPr lIns="227160" tIns="113400" rIns="227160" bIns="113400"/>
          <a:lstStyle/>
          <a:p>
            <a:pPr algn="r">
              <a:lnSpc>
                <a:spcPct val="100000"/>
              </a:lnSpc>
            </a:pPr>
            <a:fld id="{89E319C8-D0EB-455B-AFCB-D933F7505620}" type="slidenum">
              <a:rPr lang="en-US" sz="502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ＭＳ Ｐゴシック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83087" cy="3027521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67" y="14553344"/>
            <a:ext cx="42518325" cy="15721859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BA20305-DFEA-6DEE-B902-9E1F251CADFE}"/>
              </a:ext>
            </a:extLst>
          </p:cNvPr>
          <p:cNvSpPr txBox="1"/>
          <p:nvPr/>
        </p:nvSpPr>
        <p:spPr>
          <a:xfrm>
            <a:off x="2920712" y="17242625"/>
            <a:ext cx="17116575" cy="10589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Digital Leadership in der Twin Transition: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Ein IDG-</a:t>
            </a:r>
            <a:r>
              <a:rPr lang="en-US" sz="79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basiertes</a:t>
            </a:r>
            <a:r>
              <a:rPr lang="en-US" sz="7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79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Kompetenz</a:t>
            </a:r>
            <a:r>
              <a:rPr lang="en-US" sz="7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-Framework für </a:t>
            </a:r>
            <a:r>
              <a:rPr lang="en-US" sz="79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technische</a:t>
            </a:r>
            <a:r>
              <a:rPr lang="en-US" sz="7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79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Führungskräfte</a:t>
            </a:r>
            <a:r>
              <a:rPr lang="en-US" sz="7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962CAFF2-F966-A68C-B334-DDA1A20F2E1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038384" y="5503610"/>
            <a:ext cx="34410392" cy="478015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C49A13EA-CD9C-0BD7-7129-C2F8095A1815}"/>
              </a:ext>
            </a:extLst>
          </p:cNvPr>
          <p:cNvSpPr txBox="1"/>
          <p:nvPr/>
        </p:nvSpPr>
        <p:spPr>
          <a:xfrm>
            <a:off x="23893670" y="17148237"/>
            <a:ext cx="15668705" cy="10589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900" dirty="0"/>
              <a:t>Gruppe G4</a:t>
            </a:r>
            <a:br>
              <a:rPr lang="en-US" sz="7900" dirty="0"/>
            </a:br>
            <a:br>
              <a:rPr lang="en-US" sz="7900" dirty="0"/>
            </a:br>
            <a:r>
              <a:rPr lang="en-US" sz="7900" dirty="0"/>
              <a:t>Emilia </a:t>
            </a:r>
            <a:r>
              <a:rPr lang="en-US" sz="7900" dirty="0" err="1"/>
              <a:t>Peham</a:t>
            </a:r>
            <a:r>
              <a:rPr lang="en-US" sz="7900" dirty="0"/>
              <a:t> (PL)</a:t>
            </a:r>
            <a:br>
              <a:rPr lang="en-US" sz="7900" dirty="0"/>
            </a:br>
            <a:r>
              <a:rPr lang="en-US" sz="7900" dirty="0"/>
              <a:t>Jana </a:t>
            </a:r>
            <a:r>
              <a:rPr lang="en-US" sz="7900" dirty="0" err="1"/>
              <a:t>Sieberer</a:t>
            </a:r>
            <a:r>
              <a:rPr lang="en-US" sz="7900" dirty="0"/>
              <a:t> (</a:t>
            </a:r>
            <a:r>
              <a:rPr lang="en-US" sz="7900" dirty="0" err="1"/>
              <a:t>Stv</a:t>
            </a:r>
            <a:r>
              <a:rPr lang="en-US" sz="7900" dirty="0"/>
              <a:t>.)</a:t>
            </a:r>
            <a:br>
              <a:rPr lang="en-US" sz="7900" dirty="0"/>
            </a:br>
            <a:r>
              <a:rPr lang="en-US" sz="7900" dirty="0"/>
              <a:t>Xinyue Li</a:t>
            </a:r>
            <a:br>
              <a:rPr lang="en-US" sz="7900" dirty="0"/>
            </a:br>
            <a:r>
              <a:rPr lang="en-US" sz="7900" dirty="0"/>
              <a:t>Kerstin Wiesinger</a:t>
            </a:r>
            <a:br>
              <a:rPr lang="en-US" sz="7900" dirty="0"/>
            </a:br>
            <a:r>
              <a:rPr lang="en-US" sz="7900" dirty="0"/>
              <a:t>Milan Keta </a:t>
            </a:r>
            <a:br>
              <a:rPr lang="en-US" sz="7900" dirty="0"/>
            </a:br>
            <a:br>
              <a:rPr lang="en-US" sz="7900" dirty="0"/>
            </a:br>
            <a:r>
              <a:rPr lang="en-US" sz="7900" dirty="0" err="1"/>
              <a:t>Betreuer</a:t>
            </a:r>
            <a:r>
              <a:rPr lang="en-US" sz="7900" dirty="0"/>
              <a:t>: David Christoph </a:t>
            </a:r>
            <a:r>
              <a:rPr lang="en-US" sz="7900" dirty="0" err="1"/>
              <a:t>Rückel</a:t>
            </a:r>
            <a:endParaRPr lang="en-US" sz="7900" dirty="0"/>
          </a:p>
        </p:txBody>
      </p:sp>
    </p:spTree>
    <p:extLst>
      <p:ext uri="{BB962C8B-B14F-4D97-AF65-F5344CB8AC3E}">
        <p14:creationId xmlns:p14="http://schemas.microsoft.com/office/powerpoint/2010/main" val="421459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83087" cy="3027521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699434" cy="30275212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466CA3-8007-8826-C56D-501F9C5DD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744" y="1381849"/>
            <a:ext cx="12728682" cy="275115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R="0"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sz="8500" b="1" dirty="0" err="1"/>
              <a:t>Problemstellung</a:t>
            </a:r>
            <a:r>
              <a:rPr lang="en-US" sz="8500" b="1" dirty="0"/>
              <a:t> &amp; </a:t>
            </a:r>
            <a:r>
              <a:rPr lang="en-US" sz="8500" b="1" dirty="0" err="1"/>
              <a:t>Forschungsfrage</a:t>
            </a:r>
            <a:endParaRPr lang="en-US" altLang="de-DE" sz="8500" b="1" dirty="0"/>
          </a:p>
          <a:p>
            <a:pPr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de-DE" sz="7000" b="1" dirty="0"/>
          </a:p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de-DE" sz="7000" dirty="0"/>
              <a:t>Trotz </a:t>
            </a:r>
            <a:r>
              <a:rPr lang="en-US" altLang="de-DE" sz="7000" dirty="0" err="1"/>
              <a:t>technologischer</a:t>
            </a:r>
            <a:r>
              <a:rPr lang="en-US" altLang="de-DE" sz="7000" dirty="0"/>
              <a:t> </a:t>
            </a:r>
            <a:r>
              <a:rPr lang="en-US" altLang="de-DE" sz="7000" dirty="0" err="1"/>
              <a:t>Lösungen</a:t>
            </a:r>
            <a:r>
              <a:rPr lang="en-US" altLang="de-DE" sz="7000" dirty="0"/>
              <a:t> für die SDGs (Sustainable Development Goals) </a:t>
            </a:r>
            <a:r>
              <a:rPr lang="en-US" altLang="de-DE" sz="7000" dirty="0" err="1"/>
              <a:t>mangelt</a:t>
            </a:r>
            <a:r>
              <a:rPr lang="en-US" altLang="de-DE" sz="7000" dirty="0"/>
              <a:t> es oft an der </a:t>
            </a:r>
            <a:r>
              <a:rPr lang="en-US" altLang="de-DE" sz="7000" dirty="0" err="1"/>
              <a:t>inneren</a:t>
            </a:r>
            <a:r>
              <a:rPr lang="en-US" altLang="de-DE" sz="7000" dirty="0"/>
              <a:t> </a:t>
            </a:r>
            <a:r>
              <a:rPr lang="en-US" altLang="de-DE" sz="7000" dirty="0" err="1"/>
              <a:t>Kapazität</a:t>
            </a:r>
            <a:r>
              <a:rPr lang="en-US" altLang="de-DE" sz="7000" dirty="0"/>
              <a:t>, um </a:t>
            </a:r>
            <a:r>
              <a:rPr lang="en-US" altLang="de-DE" sz="7000" dirty="0" err="1"/>
              <a:t>mit</a:t>
            </a:r>
            <a:r>
              <a:rPr lang="en-US" altLang="de-DE" sz="7000" dirty="0"/>
              <a:t> </a:t>
            </a:r>
            <a:r>
              <a:rPr lang="en-US" altLang="de-DE" sz="7000" dirty="0" err="1"/>
              <a:t>dieser</a:t>
            </a:r>
            <a:r>
              <a:rPr lang="en-US" altLang="de-DE" sz="7000" dirty="0"/>
              <a:t> </a:t>
            </a:r>
            <a:r>
              <a:rPr lang="en-US" altLang="de-DE" sz="7000" dirty="0" err="1"/>
              <a:t>Komplexität</a:t>
            </a:r>
            <a:r>
              <a:rPr lang="en-US" altLang="de-DE" sz="7000" dirty="0"/>
              <a:t> </a:t>
            </a:r>
            <a:r>
              <a:rPr lang="en-US" altLang="de-DE" sz="7000" dirty="0" err="1"/>
              <a:t>umzugehen</a:t>
            </a:r>
            <a:r>
              <a:rPr lang="en-US" altLang="de-DE" sz="7000" dirty="0"/>
              <a:t>.</a:t>
            </a:r>
          </a:p>
          <a:p>
            <a:pPr lvl="0" indent="-2286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de-DE" sz="7000" dirty="0"/>
          </a:p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de-DE" sz="7000" dirty="0" err="1"/>
              <a:t>Digitale</a:t>
            </a:r>
            <a:r>
              <a:rPr lang="en-US" altLang="de-DE" sz="7000" dirty="0"/>
              <a:t> Transformation (</a:t>
            </a:r>
            <a:r>
              <a:rPr lang="en-US" altLang="de-DE" sz="7000" dirty="0" err="1"/>
              <a:t>Digitalisierung</a:t>
            </a:r>
            <a:r>
              <a:rPr lang="en-US" altLang="de-DE" sz="7000" dirty="0"/>
              <a:t>) und </a:t>
            </a:r>
            <a:r>
              <a:rPr lang="en-US" altLang="de-DE" sz="7000" dirty="0" err="1"/>
              <a:t>nachhaltige</a:t>
            </a:r>
            <a:r>
              <a:rPr lang="en-US" altLang="de-DE" sz="7000" dirty="0"/>
              <a:t> Transformation (Circular Economy) </a:t>
            </a:r>
            <a:r>
              <a:rPr lang="en-US" altLang="de-DE" sz="7000" dirty="0" err="1"/>
              <a:t>verschmelzen</a:t>
            </a:r>
            <a:r>
              <a:rPr lang="en-US" altLang="de-DE" sz="7000" dirty="0"/>
              <a:t> </a:t>
            </a:r>
            <a:r>
              <a:rPr lang="en-US" altLang="de-DE" sz="7000" dirty="0" err="1"/>
              <a:t>zur</a:t>
            </a:r>
            <a:r>
              <a:rPr lang="en-US" altLang="de-DE" sz="7000" dirty="0"/>
              <a:t> Twin Transition.</a:t>
            </a:r>
          </a:p>
          <a:p>
            <a:pPr lvl="0" indent="-2286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de-DE" sz="7000" dirty="0"/>
          </a:p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de-DE" sz="7000" dirty="0"/>
              <a:t>Technik </a:t>
            </a:r>
            <a:r>
              <a:rPr lang="en-US" altLang="de-DE" sz="7000" dirty="0" err="1"/>
              <a:t>allein</a:t>
            </a:r>
            <a:r>
              <a:rPr lang="en-US" altLang="de-DE" sz="7000" dirty="0"/>
              <a:t> </a:t>
            </a:r>
            <a:r>
              <a:rPr lang="en-US" altLang="de-DE" sz="7000" dirty="0" err="1"/>
              <a:t>reicht</a:t>
            </a:r>
            <a:r>
              <a:rPr lang="en-US" altLang="de-DE" sz="7000" dirty="0"/>
              <a:t> nicht; es </a:t>
            </a:r>
            <a:r>
              <a:rPr lang="en-US" altLang="de-DE" sz="7000" dirty="0" err="1"/>
              <a:t>braucht</a:t>
            </a:r>
            <a:r>
              <a:rPr lang="en-US" altLang="de-DE" sz="7000" dirty="0"/>
              <a:t> „Inner Skills“, um den </a:t>
            </a:r>
            <a:r>
              <a:rPr lang="en-US" altLang="de-DE" sz="7000" dirty="0" err="1"/>
              <a:t>menschlichen</a:t>
            </a:r>
            <a:r>
              <a:rPr lang="en-US" altLang="de-DE" sz="7000" dirty="0"/>
              <a:t> Faktor </a:t>
            </a:r>
            <a:r>
              <a:rPr lang="en-US" altLang="de-DE" sz="7000" dirty="0" err="1"/>
              <a:t>erfolgreich</a:t>
            </a:r>
            <a:r>
              <a:rPr lang="en-US" altLang="de-DE" sz="7000" dirty="0"/>
              <a:t> </a:t>
            </a:r>
            <a:r>
              <a:rPr lang="en-US" altLang="de-DE" sz="7000" dirty="0" err="1"/>
              <a:t>zu</a:t>
            </a:r>
            <a:r>
              <a:rPr lang="en-US" altLang="de-DE" sz="7000" dirty="0"/>
              <a:t> </a:t>
            </a:r>
            <a:r>
              <a:rPr lang="en-US" altLang="de-DE" sz="7000" dirty="0" err="1"/>
              <a:t>integrieren</a:t>
            </a:r>
            <a:r>
              <a:rPr lang="en-US" altLang="de-DE" sz="7000" dirty="0"/>
              <a:t>.</a:t>
            </a:r>
          </a:p>
          <a:p>
            <a:pPr lvl="0" indent="-2286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de-DE" sz="7000" dirty="0"/>
          </a:p>
          <a:p>
            <a:pPr lvl="0"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de-DE" sz="7000" b="1" dirty="0" err="1"/>
              <a:t>Forschungsfrage</a:t>
            </a:r>
            <a:r>
              <a:rPr lang="en-US" altLang="de-DE" sz="7000" b="1" dirty="0"/>
              <a:t>:</a:t>
            </a:r>
          </a:p>
          <a:p>
            <a:pPr lvl="0" indent="-228600"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de-DE" sz="7000" b="1" dirty="0"/>
          </a:p>
          <a:p>
            <a:pPr lvl="0"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de-DE" sz="7000" b="1" dirty="0"/>
              <a:t>„</a:t>
            </a:r>
            <a:r>
              <a:rPr lang="en-US" altLang="de-DE" sz="7000" b="1" dirty="0" err="1"/>
              <a:t>Welche</a:t>
            </a:r>
            <a:r>
              <a:rPr lang="en-US" altLang="de-DE" sz="7000" b="1" dirty="0"/>
              <a:t> </a:t>
            </a:r>
            <a:r>
              <a:rPr lang="en-US" altLang="de-DE" sz="7000" b="1" dirty="0" err="1"/>
              <a:t>Kompetenzen</a:t>
            </a:r>
            <a:r>
              <a:rPr lang="en-US" altLang="de-DE" sz="7000" b="1" dirty="0"/>
              <a:t> der IDGs </a:t>
            </a:r>
            <a:r>
              <a:rPr lang="en-US" altLang="de-DE" sz="7000" b="1" dirty="0" err="1"/>
              <a:t>ergänzen</a:t>
            </a:r>
            <a:r>
              <a:rPr lang="en-US" altLang="de-DE" sz="7000" b="1" dirty="0"/>
              <a:t> die Profile von CIO, CDO und CTO, um die Twin Transition </a:t>
            </a:r>
            <a:r>
              <a:rPr lang="en-US" altLang="de-DE" sz="7000" b="1" dirty="0" err="1"/>
              <a:t>menschzentriert</a:t>
            </a:r>
            <a:r>
              <a:rPr lang="en-US" altLang="de-DE" sz="7000" b="1" dirty="0"/>
              <a:t> </a:t>
            </a:r>
            <a:r>
              <a:rPr lang="en-US" altLang="de-DE" sz="7000" b="1" dirty="0" err="1"/>
              <a:t>zu</a:t>
            </a:r>
            <a:r>
              <a:rPr lang="en-US" altLang="de-DE" sz="7000" b="1" dirty="0"/>
              <a:t> </a:t>
            </a:r>
            <a:r>
              <a:rPr lang="en-US" altLang="de-DE" sz="7000" b="1" dirty="0" err="1"/>
              <a:t>steuern</a:t>
            </a:r>
            <a:r>
              <a:rPr lang="en-US" altLang="de-DE" sz="7000" b="1" dirty="0"/>
              <a:t>?“ 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de-DE" sz="4900" dirty="0"/>
          </a:p>
          <a:p>
            <a:pPr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de-DE" sz="49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de-DE" sz="49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8A726B1-E4D4-D6EB-0329-0014F06B3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4723" y="5672628"/>
            <a:ext cx="21447621" cy="1903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80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72466" cy="302752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30508B5-20F2-3161-D93A-15D953A6D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0"/>
          <a:stretch>
            <a:fillRect/>
          </a:stretch>
        </p:blipFill>
        <p:spPr>
          <a:xfrm>
            <a:off x="20" y="10"/>
            <a:ext cx="42483068" cy="20123559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65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119989" y="24148356"/>
            <a:ext cx="6055043" cy="63725"/>
          </a:xfrm>
          <a:custGeom>
            <a:avLst/>
            <a:gdLst>
              <a:gd name="csX0" fmla="*/ 0 w 6055043"/>
              <a:gd name="csY0" fmla="*/ 0 h 63725"/>
              <a:gd name="csX1" fmla="*/ 793883 w 6055043"/>
              <a:gd name="csY1" fmla="*/ 0 h 63725"/>
              <a:gd name="csX2" fmla="*/ 1285015 w 6055043"/>
              <a:gd name="csY2" fmla="*/ 0 h 63725"/>
              <a:gd name="csX3" fmla="*/ 2018348 w 6055043"/>
              <a:gd name="csY3" fmla="*/ 0 h 63725"/>
              <a:gd name="csX4" fmla="*/ 2812231 w 6055043"/>
              <a:gd name="csY4" fmla="*/ 0 h 63725"/>
              <a:gd name="csX5" fmla="*/ 3545564 w 6055043"/>
              <a:gd name="csY5" fmla="*/ 0 h 63725"/>
              <a:gd name="csX6" fmla="*/ 4157796 w 6055043"/>
              <a:gd name="csY6" fmla="*/ 0 h 63725"/>
              <a:gd name="csX7" fmla="*/ 4891129 w 6055043"/>
              <a:gd name="csY7" fmla="*/ 0 h 63725"/>
              <a:gd name="csX8" fmla="*/ 6055043 w 6055043"/>
              <a:gd name="csY8" fmla="*/ 0 h 63725"/>
              <a:gd name="csX9" fmla="*/ 6055043 w 6055043"/>
              <a:gd name="csY9" fmla="*/ 63725 h 63725"/>
              <a:gd name="csX10" fmla="*/ 5261160 w 6055043"/>
              <a:gd name="csY10" fmla="*/ 63725 h 63725"/>
              <a:gd name="csX11" fmla="*/ 4648927 w 6055043"/>
              <a:gd name="csY11" fmla="*/ 63725 h 63725"/>
              <a:gd name="csX12" fmla="*/ 3915594 w 6055043"/>
              <a:gd name="csY12" fmla="*/ 63725 h 63725"/>
              <a:gd name="csX13" fmla="*/ 3363913 w 6055043"/>
              <a:gd name="csY13" fmla="*/ 63725 h 63725"/>
              <a:gd name="csX14" fmla="*/ 2872782 w 6055043"/>
              <a:gd name="csY14" fmla="*/ 63725 h 63725"/>
              <a:gd name="csX15" fmla="*/ 2321100 w 6055043"/>
              <a:gd name="csY15" fmla="*/ 63725 h 63725"/>
              <a:gd name="csX16" fmla="*/ 1587767 w 6055043"/>
              <a:gd name="csY16" fmla="*/ 63725 h 63725"/>
              <a:gd name="csX17" fmla="*/ 1036085 w 6055043"/>
              <a:gd name="csY17" fmla="*/ 63725 h 63725"/>
              <a:gd name="csX18" fmla="*/ 0 w 6055043"/>
              <a:gd name="csY18" fmla="*/ 63725 h 63725"/>
              <a:gd name="csX19" fmla="*/ 0 w 6055043"/>
              <a:gd name="csY19" fmla="*/ 0 h 63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6055043" h="63725" fill="none" extrusionOk="0">
                <a:moveTo>
                  <a:pt x="0" y="0"/>
                </a:moveTo>
                <a:cubicBezTo>
                  <a:pt x="325060" y="-13562"/>
                  <a:pt x="400024" y="-38451"/>
                  <a:pt x="793883" y="0"/>
                </a:cubicBezTo>
                <a:cubicBezTo>
                  <a:pt x="1187742" y="38451"/>
                  <a:pt x="1174918" y="-10349"/>
                  <a:pt x="1285015" y="0"/>
                </a:cubicBezTo>
                <a:cubicBezTo>
                  <a:pt x="1395112" y="10349"/>
                  <a:pt x="1685135" y="29516"/>
                  <a:pt x="2018348" y="0"/>
                </a:cubicBezTo>
                <a:cubicBezTo>
                  <a:pt x="2351561" y="-29516"/>
                  <a:pt x="2607928" y="-5286"/>
                  <a:pt x="2812231" y="0"/>
                </a:cubicBezTo>
                <a:cubicBezTo>
                  <a:pt x="3016534" y="5286"/>
                  <a:pt x="3211002" y="21512"/>
                  <a:pt x="3545564" y="0"/>
                </a:cubicBezTo>
                <a:cubicBezTo>
                  <a:pt x="3880126" y="-21512"/>
                  <a:pt x="3932495" y="-19714"/>
                  <a:pt x="4157796" y="0"/>
                </a:cubicBezTo>
                <a:cubicBezTo>
                  <a:pt x="4383097" y="19714"/>
                  <a:pt x="4546844" y="30532"/>
                  <a:pt x="4891129" y="0"/>
                </a:cubicBezTo>
                <a:cubicBezTo>
                  <a:pt x="5235414" y="-30532"/>
                  <a:pt x="5670662" y="42187"/>
                  <a:pt x="6055043" y="0"/>
                </a:cubicBezTo>
                <a:cubicBezTo>
                  <a:pt x="6054072" y="23646"/>
                  <a:pt x="6057447" y="43406"/>
                  <a:pt x="6055043" y="63725"/>
                </a:cubicBezTo>
                <a:cubicBezTo>
                  <a:pt x="5786832" y="33325"/>
                  <a:pt x="5434790" y="101673"/>
                  <a:pt x="5261160" y="63725"/>
                </a:cubicBezTo>
                <a:cubicBezTo>
                  <a:pt x="5087530" y="25777"/>
                  <a:pt x="4819442" y="49740"/>
                  <a:pt x="4648927" y="63725"/>
                </a:cubicBezTo>
                <a:cubicBezTo>
                  <a:pt x="4478412" y="77710"/>
                  <a:pt x="4272085" y="46287"/>
                  <a:pt x="3915594" y="63725"/>
                </a:cubicBezTo>
                <a:cubicBezTo>
                  <a:pt x="3559103" y="81163"/>
                  <a:pt x="3568791" y="47065"/>
                  <a:pt x="3363913" y="63725"/>
                </a:cubicBezTo>
                <a:cubicBezTo>
                  <a:pt x="3159035" y="80385"/>
                  <a:pt x="3083041" y="67020"/>
                  <a:pt x="2872782" y="63725"/>
                </a:cubicBezTo>
                <a:cubicBezTo>
                  <a:pt x="2662523" y="60430"/>
                  <a:pt x="2501048" y="72529"/>
                  <a:pt x="2321100" y="63725"/>
                </a:cubicBezTo>
                <a:cubicBezTo>
                  <a:pt x="2141152" y="54921"/>
                  <a:pt x="1751985" y="67266"/>
                  <a:pt x="1587767" y="63725"/>
                </a:cubicBezTo>
                <a:cubicBezTo>
                  <a:pt x="1423549" y="60184"/>
                  <a:pt x="1304013" y="81081"/>
                  <a:pt x="1036085" y="63725"/>
                </a:cubicBezTo>
                <a:cubicBezTo>
                  <a:pt x="768157" y="46369"/>
                  <a:pt x="477088" y="25308"/>
                  <a:pt x="0" y="63725"/>
                </a:cubicBezTo>
                <a:cubicBezTo>
                  <a:pt x="1060" y="49091"/>
                  <a:pt x="-2932" y="18000"/>
                  <a:pt x="0" y="0"/>
                </a:cubicBezTo>
                <a:close/>
              </a:path>
              <a:path w="6055043" h="63725" stroke="0" extrusionOk="0">
                <a:moveTo>
                  <a:pt x="0" y="0"/>
                </a:moveTo>
                <a:cubicBezTo>
                  <a:pt x="216823" y="-10233"/>
                  <a:pt x="374791" y="19264"/>
                  <a:pt x="491131" y="0"/>
                </a:cubicBezTo>
                <a:cubicBezTo>
                  <a:pt x="607471" y="-19264"/>
                  <a:pt x="883167" y="-21726"/>
                  <a:pt x="1103363" y="0"/>
                </a:cubicBezTo>
                <a:cubicBezTo>
                  <a:pt x="1323559" y="21726"/>
                  <a:pt x="1526173" y="22979"/>
                  <a:pt x="1836696" y="0"/>
                </a:cubicBezTo>
                <a:cubicBezTo>
                  <a:pt x="2147219" y="-22979"/>
                  <a:pt x="2407807" y="983"/>
                  <a:pt x="2630580" y="0"/>
                </a:cubicBezTo>
                <a:cubicBezTo>
                  <a:pt x="2853353" y="-983"/>
                  <a:pt x="3148729" y="16804"/>
                  <a:pt x="3424463" y="0"/>
                </a:cubicBezTo>
                <a:cubicBezTo>
                  <a:pt x="3700197" y="-16804"/>
                  <a:pt x="3721157" y="-16680"/>
                  <a:pt x="3976145" y="0"/>
                </a:cubicBezTo>
                <a:cubicBezTo>
                  <a:pt x="4231133" y="16680"/>
                  <a:pt x="4401247" y="-14455"/>
                  <a:pt x="4588377" y="0"/>
                </a:cubicBezTo>
                <a:cubicBezTo>
                  <a:pt x="4775507" y="14455"/>
                  <a:pt x="5147092" y="-25884"/>
                  <a:pt x="5382260" y="0"/>
                </a:cubicBezTo>
                <a:cubicBezTo>
                  <a:pt x="5617428" y="25884"/>
                  <a:pt x="5755887" y="27379"/>
                  <a:pt x="6055043" y="0"/>
                </a:cubicBezTo>
                <a:cubicBezTo>
                  <a:pt x="6054180" y="29489"/>
                  <a:pt x="6052878" y="46130"/>
                  <a:pt x="6055043" y="63725"/>
                </a:cubicBezTo>
                <a:cubicBezTo>
                  <a:pt x="5886044" y="64897"/>
                  <a:pt x="5624276" y="52612"/>
                  <a:pt x="5382260" y="63725"/>
                </a:cubicBezTo>
                <a:cubicBezTo>
                  <a:pt x="5140244" y="74838"/>
                  <a:pt x="5073304" y="62530"/>
                  <a:pt x="4830579" y="63725"/>
                </a:cubicBezTo>
                <a:cubicBezTo>
                  <a:pt x="4587854" y="64920"/>
                  <a:pt x="4319109" y="80966"/>
                  <a:pt x="4036695" y="63725"/>
                </a:cubicBezTo>
                <a:cubicBezTo>
                  <a:pt x="3754281" y="46484"/>
                  <a:pt x="3655675" y="87562"/>
                  <a:pt x="3545564" y="63725"/>
                </a:cubicBezTo>
                <a:cubicBezTo>
                  <a:pt x="3435453" y="39888"/>
                  <a:pt x="3011092" y="87359"/>
                  <a:pt x="2751681" y="63725"/>
                </a:cubicBezTo>
                <a:cubicBezTo>
                  <a:pt x="2492270" y="40091"/>
                  <a:pt x="2370195" y="40129"/>
                  <a:pt x="2260549" y="63725"/>
                </a:cubicBezTo>
                <a:cubicBezTo>
                  <a:pt x="2150903" y="87321"/>
                  <a:pt x="1844609" y="85828"/>
                  <a:pt x="1708868" y="63725"/>
                </a:cubicBezTo>
                <a:cubicBezTo>
                  <a:pt x="1573127" y="41622"/>
                  <a:pt x="1198737" y="43502"/>
                  <a:pt x="975535" y="63725"/>
                </a:cubicBezTo>
                <a:cubicBezTo>
                  <a:pt x="752333" y="83948"/>
                  <a:pt x="447482" y="69396"/>
                  <a:pt x="0" y="63725"/>
                </a:cubicBezTo>
                <a:cubicBezTo>
                  <a:pt x="863" y="37207"/>
                  <a:pt x="-2604" y="156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13ED8D4-6DAD-62FB-741D-34F6B1CDA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1746" y="21194867"/>
            <a:ext cx="26068346" cy="7125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6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Phase 1: </a:t>
            </a:r>
            <a:r>
              <a:rPr kumimoji="0" lang="de-DE" altLang="de-DE" sz="6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Systematic</a:t>
            </a:r>
            <a:r>
              <a:rPr kumimoji="0" lang="de-DE" altLang="de-DE" sz="6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de-DE" altLang="de-DE" sz="6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Literature</a:t>
            </a:r>
            <a:r>
              <a:rPr kumimoji="0" lang="de-DE" altLang="de-DE" sz="6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Review (SLR):</a:t>
            </a:r>
            <a:r>
              <a:rPr kumimoji="0" lang="de-DE" altLang="de-DE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Wir suchen nicht einfach nur, wir gehen methodisch nach vom Brocke et al. (2009) und </a:t>
            </a:r>
            <a:r>
              <a:rPr kumimoji="0" lang="de-DE" altLang="de-DE" sz="6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Webster &amp; Watson (2002) </a:t>
            </a:r>
            <a:r>
              <a:rPr kumimoji="0" lang="de-DE" altLang="de-DE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vor, um den Stand der Forschung zu Rollen und IDGs lückenlos zu erfassen.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6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Phase 2: Design Science Research (DSR):</a:t>
            </a:r>
            <a:r>
              <a:rPr kumimoji="0" lang="de-DE" altLang="de-DE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Unser Framework ist ein „Artefakt“. Die Entwicklung folgt dem Prozess von </a:t>
            </a:r>
            <a:r>
              <a:rPr kumimoji="0" lang="de-DE" altLang="de-DE" sz="6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Peffers</a:t>
            </a:r>
            <a:r>
              <a:rPr kumimoji="0" lang="de-DE" altLang="de-DE" sz="6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et al. (2007) </a:t>
            </a:r>
            <a:r>
              <a:rPr kumimoji="0" lang="de-DE" altLang="de-DE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und </a:t>
            </a:r>
            <a:r>
              <a:rPr kumimoji="0" lang="de-DE" altLang="de-DE" sz="6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Hevner</a:t>
            </a:r>
            <a:r>
              <a:rPr kumimoji="0" lang="de-DE" altLang="de-DE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et al. (2004).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6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Phase 3: Validierung:</a:t>
            </a:r>
            <a:r>
              <a:rPr kumimoji="0" lang="de-DE" altLang="de-DE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Wir prüfen unser Modell durch Interviews mit Experten aus der Praxis</a:t>
            </a:r>
            <a:endParaRPr kumimoji="0" lang="de-DE" altLang="de-DE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8F41480-F8A9-2162-550E-717443E2B609}"/>
              </a:ext>
            </a:extLst>
          </p:cNvPr>
          <p:cNvSpPr txBox="1"/>
          <p:nvPr/>
        </p:nvSpPr>
        <p:spPr>
          <a:xfrm>
            <a:off x="5603901" y="23433942"/>
            <a:ext cx="212498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8000" b="1" dirty="0"/>
              <a:t>Methode</a:t>
            </a:r>
            <a:r>
              <a:rPr lang="de-AT" sz="7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0123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515456E-B1B1-48C1-8164-7E567F5D4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83087" cy="3027521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8CF0DC-D23A-4CA2-8463-27F89928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83087" cy="30275212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B8A381C4-0C0D-491F-90D8-63CF760B4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5698">
            <a:off x="-681719" y="299953"/>
            <a:ext cx="22329789" cy="30516800"/>
          </a:xfrm>
          <a:custGeom>
            <a:avLst/>
            <a:gdLst>
              <a:gd name="connsiteX0" fmla="*/ 0 w 6408310"/>
              <a:gd name="connsiteY0" fmla="*/ 108934 h 6912725"/>
              <a:gd name="connsiteX1" fmla="*/ 1911522 w 6408310"/>
              <a:gd name="connsiteY1" fmla="*/ 0 h 6912725"/>
              <a:gd name="connsiteX2" fmla="*/ 1916026 w 6408310"/>
              <a:gd name="connsiteY2" fmla="*/ 4704 h 6912725"/>
              <a:gd name="connsiteX3" fmla="*/ 1911112 w 6408310"/>
              <a:gd name="connsiteY3" fmla="*/ 17418 h 6912725"/>
              <a:gd name="connsiteX4" fmla="*/ 1972871 w 6408310"/>
              <a:gd name="connsiteY4" fmla="*/ 72530 h 6912725"/>
              <a:gd name="connsiteX5" fmla="*/ 2069180 w 6408310"/>
              <a:gd name="connsiteY5" fmla="*/ 173199 h 6912725"/>
              <a:gd name="connsiteX6" fmla="*/ 2131569 w 6408310"/>
              <a:gd name="connsiteY6" fmla="*/ 227805 h 6912725"/>
              <a:gd name="connsiteX7" fmla="*/ 2162747 w 6408310"/>
              <a:gd name="connsiteY7" fmla="*/ 239714 h 6912725"/>
              <a:gd name="connsiteX8" fmla="*/ 2220499 w 6408310"/>
              <a:gd name="connsiteY8" fmla="*/ 289903 h 6912725"/>
              <a:gd name="connsiteX9" fmla="*/ 2381978 w 6408310"/>
              <a:gd name="connsiteY9" fmla="*/ 391093 h 6912725"/>
              <a:gd name="connsiteX10" fmla="*/ 2445910 w 6408310"/>
              <a:gd name="connsiteY10" fmla="*/ 463815 h 6912725"/>
              <a:gd name="connsiteX11" fmla="*/ 2531236 w 6408310"/>
              <a:gd name="connsiteY11" fmla="*/ 600817 h 6912725"/>
              <a:gd name="connsiteX12" fmla="*/ 2617149 w 6408310"/>
              <a:gd name="connsiteY12" fmla="*/ 703748 h 6912725"/>
              <a:gd name="connsiteX13" fmla="*/ 2650333 w 6408310"/>
              <a:gd name="connsiteY13" fmla="*/ 720900 h 6912725"/>
              <a:gd name="connsiteX14" fmla="*/ 2705541 w 6408310"/>
              <a:gd name="connsiteY14" fmla="*/ 750090 h 6912725"/>
              <a:gd name="connsiteX15" fmla="*/ 2757210 w 6408310"/>
              <a:gd name="connsiteY15" fmla="*/ 789489 h 6912725"/>
              <a:gd name="connsiteX16" fmla="*/ 2791660 w 6408310"/>
              <a:gd name="connsiteY16" fmla="*/ 816041 h 6912725"/>
              <a:gd name="connsiteX17" fmla="*/ 2840975 w 6408310"/>
              <a:gd name="connsiteY17" fmla="*/ 842225 h 6912725"/>
              <a:gd name="connsiteX18" fmla="*/ 2917970 w 6408310"/>
              <a:gd name="connsiteY18" fmla="*/ 879392 h 6912725"/>
              <a:gd name="connsiteX19" fmla="*/ 2957236 w 6408310"/>
              <a:gd name="connsiteY19" fmla="*/ 906835 h 6912725"/>
              <a:gd name="connsiteX20" fmla="*/ 3117215 w 6408310"/>
              <a:gd name="connsiteY20" fmla="*/ 1073714 h 6912725"/>
              <a:gd name="connsiteX21" fmla="*/ 3250958 w 6408310"/>
              <a:gd name="connsiteY21" fmla="*/ 1130397 h 6912725"/>
              <a:gd name="connsiteX22" fmla="*/ 3496717 w 6408310"/>
              <a:gd name="connsiteY22" fmla="*/ 1260412 h 6912725"/>
              <a:gd name="connsiteX23" fmla="*/ 3494992 w 6408310"/>
              <a:gd name="connsiteY23" fmla="*/ 1268283 h 6912725"/>
              <a:gd name="connsiteX24" fmla="*/ 3508993 w 6408310"/>
              <a:gd name="connsiteY24" fmla="*/ 1287737 h 6912725"/>
              <a:gd name="connsiteX25" fmla="*/ 3512115 w 6408310"/>
              <a:gd name="connsiteY25" fmla="*/ 1288544 h 6912725"/>
              <a:gd name="connsiteX26" fmla="*/ 3548697 w 6408310"/>
              <a:gd name="connsiteY26" fmla="*/ 1363739 h 6912725"/>
              <a:gd name="connsiteX27" fmla="*/ 3656567 w 6408310"/>
              <a:gd name="connsiteY27" fmla="*/ 1479533 h 6912725"/>
              <a:gd name="connsiteX28" fmla="*/ 3661987 w 6408310"/>
              <a:gd name="connsiteY28" fmla="*/ 1491779 h 6912725"/>
              <a:gd name="connsiteX29" fmla="*/ 3667389 w 6408310"/>
              <a:gd name="connsiteY29" fmla="*/ 1495409 h 6912725"/>
              <a:gd name="connsiteX30" fmla="*/ 3800461 w 6408310"/>
              <a:gd name="connsiteY30" fmla="*/ 1696689 h 6912725"/>
              <a:gd name="connsiteX31" fmla="*/ 3933737 w 6408310"/>
              <a:gd name="connsiteY31" fmla="*/ 1853325 h 6912725"/>
              <a:gd name="connsiteX32" fmla="*/ 3946446 w 6408310"/>
              <a:gd name="connsiteY32" fmla="*/ 1903446 h 6912725"/>
              <a:gd name="connsiteX33" fmla="*/ 3960581 w 6408310"/>
              <a:gd name="connsiteY33" fmla="*/ 1913244 h 6912725"/>
              <a:gd name="connsiteX34" fmla="*/ 4015111 w 6408310"/>
              <a:gd name="connsiteY34" fmla="*/ 1956512 h 6912725"/>
              <a:gd name="connsiteX35" fmla="*/ 4070740 w 6408310"/>
              <a:gd name="connsiteY35" fmla="*/ 1999693 h 6912725"/>
              <a:gd name="connsiteX36" fmla="*/ 4091495 w 6408310"/>
              <a:gd name="connsiteY36" fmla="*/ 2064313 h 6912725"/>
              <a:gd name="connsiteX37" fmla="*/ 4118353 w 6408310"/>
              <a:gd name="connsiteY37" fmla="*/ 2073901 h 6912725"/>
              <a:gd name="connsiteX38" fmla="*/ 4123293 w 6408310"/>
              <a:gd name="connsiteY38" fmla="*/ 2075261 h 6912725"/>
              <a:gd name="connsiteX39" fmla="*/ 4166582 w 6408310"/>
              <a:gd name="connsiteY39" fmla="*/ 2120685 h 6912725"/>
              <a:gd name="connsiteX40" fmla="*/ 4213721 w 6408310"/>
              <a:gd name="connsiteY40" fmla="*/ 2168493 h 6912725"/>
              <a:gd name="connsiteX41" fmla="*/ 4250795 w 6408310"/>
              <a:gd name="connsiteY41" fmla="*/ 2261746 h 6912725"/>
              <a:gd name="connsiteX42" fmla="*/ 4295408 w 6408310"/>
              <a:gd name="connsiteY42" fmla="*/ 2340515 h 6912725"/>
              <a:gd name="connsiteX43" fmla="*/ 4318976 w 6408310"/>
              <a:gd name="connsiteY43" fmla="*/ 2371504 h 6912725"/>
              <a:gd name="connsiteX44" fmla="*/ 4323314 w 6408310"/>
              <a:gd name="connsiteY44" fmla="*/ 2378166 h 6912725"/>
              <a:gd name="connsiteX45" fmla="*/ 4323235 w 6408310"/>
              <a:gd name="connsiteY45" fmla="*/ 2378475 h 6912725"/>
              <a:gd name="connsiteX46" fmla="*/ 4327479 w 6408310"/>
              <a:gd name="connsiteY46" fmla="*/ 2385858 h 6912725"/>
              <a:gd name="connsiteX47" fmla="*/ 4331226 w 6408310"/>
              <a:gd name="connsiteY47" fmla="*/ 2390318 h 6912725"/>
              <a:gd name="connsiteX48" fmla="*/ 4339643 w 6408310"/>
              <a:gd name="connsiteY48" fmla="*/ 2403246 h 6912725"/>
              <a:gd name="connsiteX49" fmla="*/ 4341435 w 6408310"/>
              <a:gd name="connsiteY49" fmla="*/ 2408870 h 6912725"/>
              <a:gd name="connsiteX50" fmla="*/ 4340548 w 6408310"/>
              <a:gd name="connsiteY50" fmla="*/ 2412798 h 6912725"/>
              <a:gd name="connsiteX51" fmla="*/ 4351634 w 6408310"/>
              <a:gd name="connsiteY51" fmla="*/ 2443869 h 6912725"/>
              <a:gd name="connsiteX52" fmla="*/ 4380688 w 6408310"/>
              <a:gd name="connsiteY52" fmla="*/ 2504819 h 6912725"/>
              <a:gd name="connsiteX53" fmla="*/ 4399892 w 6408310"/>
              <a:gd name="connsiteY53" fmla="*/ 2537002 h 6912725"/>
              <a:gd name="connsiteX54" fmla="*/ 4449690 w 6408310"/>
              <a:gd name="connsiteY54" fmla="*/ 2628144 h 6912725"/>
              <a:gd name="connsiteX55" fmla="*/ 4512427 w 6408310"/>
              <a:gd name="connsiteY55" fmla="*/ 2840755 h 6912725"/>
              <a:gd name="connsiteX56" fmla="*/ 4591091 w 6408310"/>
              <a:gd name="connsiteY56" fmla="*/ 3036586 h 6912725"/>
              <a:gd name="connsiteX57" fmla="*/ 4757297 w 6408310"/>
              <a:gd name="connsiteY57" fmla="*/ 3388741 h 6912725"/>
              <a:gd name="connsiteX58" fmla="*/ 4755264 w 6408310"/>
              <a:gd name="connsiteY58" fmla="*/ 3461211 h 6912725"/>
              <a:gd name="connsiteX59" fmla="*/ 4776842 w 6408310"/>
              <a:gd name="connsiteY59" fmla="*/ 3503606 h 6912725"/>
              <a:gd name="connsiteX60" fmla="*/ 4815953 w 6408310"/>
              <a:gd name="connsiteY60" fmla="*/ 3543897 h 6912725"/>
              <a:gd name="connsiteX61" fmla="*/ 4826382 w 6408310"/>
              <a:gd name="connsiteY61" fmla="*/ 3589602 h 6912725"/>
              <a:gd name="connsiteX62" fmla="*/ 4900664 w 6408310"/>
              <a:gd name="connsiteY62" fmla="*/ 3697326 h 6912725"/>
              <a:gd name="connsiteX63" fmla="*/ 4944717 w 6408310"/>
              <a:gd name="connsiteY63" fmla="*/ 3795461 h 6912725"/>
              <a:gd name="connsiteX64" fmla="*/ 4981260 w 6408310"/>
              <a:gd name="connsiteY64" fmla="*/ 3887734 h 6912725"/>
              <a:gd name="connsiteX65" fmla="*/ 5000423 w 6408310"/>
              <a:gd name="connsiteY65" fmla="*/ 3933089 h 6912725"/>
              <a:gd name="connsiteX66" fmla="*/ 5033013 w 6408310"/>
              <a:gd name="connsiteY66" fmla="*/ 3937041 h 6912725"/>
              <a:gd name="connsiteX67" fmla="*/ 5081597 w 6408310"/>
              <a:gd name="connsiteY67" fmla="*/ 4013154 h 6912725"/>
              <a:gd name="connsiteX68" fmla="*/ 5088052 w 6408310"/>
              <a:gd name="connsiteY68" fmla="*/ 4027525 h 6912725"/>
              <a:gd name="connsiteX69" fmla="*/ 5189054 w 6408310"/>
              <a:gd name="connsiteY69" fmla="*/ 4098668 h 6912725"/>
              <a:gd name="connsiteX70" fmla="*/ 5228545 w 6408310"/>
              <a:gd name="connsiteY70" fmla="*/ 4146658 h 6912725"/>
              <a:gd name="connsiteX71" fmla="*/ 5268336 w 6408310"/>
              <a:gd name="connsiteY71" fmla="*/ 4194504 h 6912725"/>
              <a:gd name="connsiteX72" fmla="*/ 5317950 w 6408310"/>
              <a:gd name="connsiteY72" fmla="*/ 4267325 h 6912725"/>
              <a:gd name="connsiteX73" fmla="*/ 5598270 w 6408310"/>
              <a:gd name="connsiteY73" fmla="*/ 4563876 h 6912725"/>
              <a:gd name="connsiteX74" fmla="*/ 5833068 w 6408310"/>
              <a:gd name="connsiteY74" fmla="*/ 5016605 h 6912725"/>
              <a:gd name="connsiteX75" fmla="*/ 6045916 w 6408310"/>
              <a:gd name="connsiteY75" fmla="*/ 5405287 h 6912725"/>
              <a:gd name="connsiteX76" fmla="*/ 6117737 w 6408310"/>
              <a:gd name="connsiteY76" fmla="*/ 5538137 h 6912725"/>
              <a:gd name="connsiteX77" fmla="*/ 6144230 w 6408310"/>
              <a:gd name="connsiteY77" fmla="*/ 5635151 h 6912725"/>
              <a:gd name="connsiteX78" fmla="*/ 6176742 w 6408310"/>
              <a:gd name="connsiteY78" fmla="*/ 5809044 h 6912725"/>
              <a:gd name="connsiteX79" fmla="*/ 6245199 w 6408310"/>
              <a:gd name="connsiteY79" fmla="*/ 6038018 h 6912725"/>
              <a:gd name="connsiteX80" fmla="*/ 6303931 w 6408310"/>
              <a:gd name="connsiteY80" fmla="*/ 6175618 h 6912725"/>
              <a:gd name="connsiteX81" fmla="*/ 6336313 w 6408310"/>
              <a:gd name="connsiteY81" fmla="*/ 6345837 h 6912725"/>
              <a:gd name="connsiteX82" fmla="*/ 6401195 w 6408310"/>
              <a:gd name="connsiteY82" fmla="*/ 6542084 h 6912725"/>
              <a:gd name="connsiteX83" fmla="*/ 6408310 w 6408310"/>
              <a:gd name="connsiteY83" fmla="*/ 6612865 h 6912725"/>
              <a:gd name="connsiteX84" fmla="*/ 1146484 w 6408310"/>
              <a:gd name="connsiteY84" fmla="*/ 6912725 h 6912725"/>
              <a:gd name="connsiteX85" fmla="*/ 1108438 w 6408310"/>
              <a:gd name="connsiteY85" fmla="*/ 6825083 h 6912725"/>
              <a:gd name="connsiteX86" fmla="*/ 997867 w 6408310"/>
              <a:gd name="connsiteY86" fmla="*/ 6378703 h 6912725"/>
              <a:gd name="connsiteX87" fmla="*/ 858750 w 6408310"/>
              <a:gd name="connsiteY87" fmla="*/ 5923784 h 6912725"/>
              <a:gd name="connsiteX88" fmla="*/ 860408 w 6408310"/>
              <a:gd name="connsiteY88" fmla="*/ 5860728 h 6912725"/>
              <a:gd name="connsiteX89" fmla="*/ 853644 w 6408310"/>
              <a:gd name="connsiteY89" fmla="*/ 5771381 h 6912725"/>
              <a:gd name="connsiteX90" fmla="*/ 852164 w 6408310"/>
              <a:gd name="connsiteY90" fmla="*/ 5615193 h 6912725"/>
              <a:gd name="connsiteX91" fmla="*/ 831986 w 6408310"/>
              <a:gd name="connsiteY91" fmla="*/ 5402745 h 6912725"/>
              <a:gd name="connsiteX92" fmla="*/ 759590 w 6408310"/>
              <a:gd name="connsiteY92" fmla="*/ 5239800 h 6912725"/>
              <a:gd name="connsiteX93" fmla="*/ 767251 w 6408310"/>
              <a:gd name="connsiteY93" fmla="*/ 5227414 h 6912725"/>
              <a:gd name="connsiteX94" fmla="*/ 745427 w 6408310"/>
              <a:gd name="connsiteY94" fmla="*/ 5118958 h 6912725"/>
              <a:gd name="connsiteX95" fmla="*/ 635950 w 6408310"/>
              <a:gd name="connsiteY95" fmla="*/ 4788294 h 6912725"/>
              <a:gd name="connsiteX96" fmla="*/ 558787 w 6408310"/>
              <a:gd name="connsiteY96" fmla="*/ 4518070 h 6912725"/>
              <a:gd name="connsiteX97" fmla="*/ 555530 w 6408310"/>
              <a:gd name="connsiteY97" fmla="*/ 4444433 h 6912725"/>
              <a:gd name="connsiteX98" fmla="*/ 549378 w 6408310"/>
              <a:gd name="connsiteY98" fmla="*/ 4320965 h 6912725"/>
              <a:gd name="connsiteX99" fmla="*/ 572361 w 6408310"/>
              <a:gd name="connsiteY99" fmla="*/ 4232369 h 6912725"/>
              <a:gd name="connsiteX100" fmla="*/ 556288 w 6408310"/>
              <a:gd name="connsiteY100" fmla="*/ 4127673 h 6912725"/>
              <a:gd name="connsiteX101" fmla="*/ 506660 w 6408310"/>
              <a:gd name="connsiteY101" fmla="*/ 3821119 h 6912725"/>
              <a:gd name="connsiteX102" fmla="*/ 494791 w 6408310"/>
              <a:gd name="connsiteY102" fmla="*/ 3723556 h 6912725"/>
              <a:gd name="connsiteX103" fmla="*/ 490230 w 6408310"/>
              <a:gd name="connsiteY103" fmla="*/ 3508893 h 6912725"/>
              <a:gd name="connsiteX104" fmla="*/ 484223 w 6408310"/>
              <a:gd name="connsiteY104" fmla="*/ 3233179 h 6912725"/>
              <a:gd name="connsiteX105" fmla="*/ 460329 w 6408310"/>
              <a:gd name="connsiteY105" fmla="*/ 3041244 h 6912725"/>
              <a:gd name="connsiteX106" fmla="*/ 407197 w 6408310"/>
              <a:gd name="connsiteY106" fmla="*/ 2812292 h 6912725"/>
              <a:gd name="connsiteX107" fmla="*/ 386122 w 6408310"/>
              <a:gd name="connsiteY107" fmla="*/ 2757841 h 6912725"/>
              <a:gd name="connsiteX108" fmla="*/ 363684 w 6408310"/>
              <a:gd name="connsiteY108" fmla="*/ 2714608 h 6912725"/>
              <a:gd name="connsiteX109" fmla="*/ 330746 w 6408310"/>
              <a:gd name="connsiteY109" fmla="*/ 2625146 h 6912725"/>
              <a:gd name="connsiteX110" fmla="*/ 299927 w 6408310"/>
              <a:gd name="connsiteY110" fmla="*/ 2566177 h 6912725"/>
              <a:gd name="connsiteX111" fmla="*/ 288272 w 6408310"/>
              <a:gd name="connsiteY111" fmla="*/ 2439923 h 6912725"/>
              <a:gd name="connsiteX112" fmla="*/ 233611 w 6408310"/>
              <a:gd name="connsiteY112" fmla="*/ 2326248 h 6912725"/>
              <a:gd name="connsiteX113" fmla="*/ 115057 w 6408310"/>
              <a:gd name="connsiteY113" fmla="*/ 2127916 h 69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408310" h="6912725">
                <a:moveTo>
                  <a:pt x="0" y="108934"/>
                </a:moveTo>
                <a:lnTo>
                  <a:pt x="1911522" y="0"/>
                </a:lnTo>
                <a:lnTo>
                  <a:pt x="1916026" y="4704"/>
                </a:lnTo>
                <a:cubicBezTo>
                  <a:pt x="1916562" y="7914"/>
                  <a:pt x="1915147" y="12061"/>
                  <a:pt x="1911112" y="17418"/>
                </a:cubicBezTo>
                <a:cubicBezTo>
                  <a:pt x="1943271" y="27853"/>
                  <a:pt x="1947645" y="36373"/>
                  <a:pt x="1972871" y="72530"/>
                </a:cubicBezTo>
                <a:cubicBezTo>
                  <a:pt x="1980767" y="117667"/>
                  <a:pt x="2061296" y="115435"/>
                  <a:pt x="2069180" y="173199"/>
                </a:cubicBezTo>
                <a:cubicBezTo>
                  <a:pt x="2075196" y="191586"/>
                  <a:pt x="2112853" y="231006"/>
                  <a:pt x="2131569" y="227805"/>
                </a:cubicBezTo>
                <a:cubicBezTo>
                  <a:pt x="2141808" y="233828"/>
                  <a:pt x="2146631" y="247405"/>
                  <a:pt x="2162747" y="239714"/>
                </a:cubicBezTo>
                <a:cubicBezTo>
                  <a:pt x="2183739" y="232191"/>
                  <a:pt x="2206491" y="310465"/>
                  <a:pt x="2220499" y="289903"/>
                </a:cubicBezTo>
                <a:cubicBezTo>
                  <a:pt x="2257038" y="315132"/>
                  <a:pt x="2344409" y="362107"/>
                  <a:pt x="2381978" y="391093"/>
                </a:cubicBezTo>
                <a:cubicBezTo>
                  <a:pt x="2419547" y="420079"/>
                  <a:pt x="2445794" y="442621"/>
                  <a:pt x="2445910" y="463815"/>
                </a:cubicBezTo>
                <a:cubicBezTo>
                  <a:pt x="2462109" y="546053"/>
                  <a:pt x="2496860" y="553382"/>
                  <a:pt x="2531236" y="600817"/>
                </a:cubicBezTo>
                <a:cubicBezTo>
                  <a:pt x="2573647" y="650501"/>
                  <a:pt x="2589314" y="613369"/>
                  <a:pt x="2617149" y="703748"/>
                </a:cubicBezTo>
                <a:cubicBezTo>
                  <a:pt x="2635983" y="695546"/>
                  <a:pt x="2643943" y="702017"/>
                  <a:pt x="2650333" y="720900"/>
                </a:cubicBezTo>
                <a:cubicBezTo>
                  <a:pt x="2671881" y="743975"/>
                  <a:pt x="2701744" y="706344"/>
                  <a:pt x="2705541" y="750090"/>
                </a:cubicBezTo>
                <a:cubicBezTo>
                  <a:pt x="2730861" y="760850"/>
                  <a:pt x="2742856" y="778498"/>
                  <a:pt x="2757210" y="789489"/>
                </a:cubicBezTo>
                <a:cubicBezTo>
                  <a:pt x="2776836" y="801882"/>
                  <a:pt x="2774652" y="796949"/>
                  <a:pt x="2791660" y="816041"/>
                </a:cubicBezTo>
                <a:cubicBezTo>
                  <a:pt x="2815343" y="835699"/>
                  <a:pt x="2784183" y="871086"/>
                  <a:pt x="2840975" y="842225"/>
                </a:cubicBezTo>
                <a:cubicBezTo>
                  <a:pt x="2854681" y="875427"/>
                  <a:pt x="2877032" y="859395"/>
                  <a:pt x="2917970" y="879392"/>
                </a:cubicBezTo>
                <a:cubicBezTo>
                  <a:pt x="2921487" y="903353"/>
                  <a:pt x="2937122" y="907916"/>
                  <a:pt x="2957236" y="906835"/>
                </a:cubicBezTo>
                <a:lnTo>
                  <a:pt x="3117215" y="1073714"/>
                </a:lnTo>
                <a:cubicBezTo>
                  <a:pt x="3153906" y="1089285"/>
                  <a:pt x="3232612" y="1124062"/>
                  <a:pt x="3250958" y="1130397"/>
                </a:cubicBezTo>
                <a:cubicBezTo>
                  <a:pt x="3409574" y="1172733"/>
                  <a:pt x="3456045" y="1237431"/>
                  <a:pt x="3496717" y="1260412"/>
                </a:cubicBezTo>
                <a:lnTo>
                  <a:pt x="3494992" y="1268283"/>
                </a:lnTo>
                <a:cubicBezTo>
                  <a:pt x="3495362" y="1274688"/>
                  <a:pt x="3498760" y="1281160"/>
                  <a:pt x="3508993" y="1287737"/>
                </a:cubicBezTo>
                <a:lnTo>
                  <a:pt x="3512115" y="1288544"/>
                </a:lnTo>
                <a:lnTo>
                  <a:pt x="3548697" y="1363739"/>
                </a:lnTo>
                <a:cubicBezTo>
                  <a:pt x="3572773" y="1395571"/>
                  <a:pt x="3623148" y="1421050"/>
                  <a:pt x="3656567" y="1479533"/>
                </a:cubicBezTo>
                <a:lnTo>
                  <a:pt x="3661987" y="1491779"/>
                </a:lnTo>
                <a:lnTo>
                  <a:pt x="3667389" y="1495409"/>
                </a:lnTo>
                <a:lnTo>
                  <a:pt x="3800461" y="1696689"/>
                </a:lnTo>
                <a:cubicBezTo>
                  <a:pt x="3835546" y="1747791"/>
                  <a:pt x="3913146" y="1811386"/>
                  <a:pt x="3933737" y="1853325"/>
                </a:cubicBezTo>
                <a:lnTo>
                  <a:pt x="3946446" y="1903446"/>
                </a:lnTo>
                <a:lnTo>
                  <a:pt x="3960581" y="1913244"/>
                </a:lnTo>
                <a:cubicBezTo>
                  <a:pt x="3979608" y="1926434"/>
                  <a:pt x="3998210" y="1940240"/>
                  <a:pt x="4015111" y="1956512"/>
                </a:cubicBezTo>
                <a:cubicBezTo>
                  <a:pt x="4083226" y="1956238"/>
                  <a:pt x="4031943" y="1969929"/>
                  <a:pt x="4070740" y="1999693"/>
                </a:cubicBezTo>
                <a:cubicBezTo>
                  <a:pt x="4027554" y="2022282"/>
                  <a:pt x="4128681" y="2025600"/>
                  <a:pt x="4091495" y="2064313"/>
                </a:cubicBezTo>
                <a:cubicBezTo>
                  <a:pt x="4099733" y="2068504"/>
                  <a:pt x="4108887" y="2071343"/>
                  <a:pt x="4118353" y="2073901"/>
                </a:cubicBezTo>
                <a:lnTo>
                  <a:pt x="4123293" y="2075261"/>
                </a:lnTo>
                <a:lnTo>
                  <a:pt x="4166582" y="2120685"/>
                </a:lnTo>
                <a:lnTo>
                  <a:pt x="4213721" y="2168493"/>
                </a:lnTo>
                <a:lnTo>
                  <a:pt x="4250795" y="2261746"/>
                </a:lnTo>
                <a:lnTo>
                  <a:pt x="4295408" y="2340515"/>
                </a:lnTo>
                <a:cubicBezTo>
                  <a:pt x="4303294" y="2350172"/>
                  <a:pt x="4311232" y="2360551"/>
                  <a:pt x="4318976" y="2371504"/>
                </a:cubicBezTo>
                <a:lnTo>
                  <a:pt x="4323314" y="2378166"/>
                </a:lnTo>
                <a:cubicBezTo>
                  <a:pt x="4323288" y="2378269"/>
                  <a:pt x="4323261" y="2378372"/>
                  <a:pt x="4323235" y="2378475"/>
                </a:cubicBezTo>
                <a:cubicBezTo>
                  <a:pt x="4323820" y="2380303"/>
                  <a:pt x="4325112" y="2382633"/>
                  <a:pt x="4327479" y="2385858"/>
                </a:cubicBezTo>
                <a:lnTo>
                  <a:pt x="4331226" y="2390318"/>
                </a:lnTo>
                <a:lnTo>
                  <a:pt x="4339643" y="2403246"/>
                </a:lnTo>
                <a:lnTo>
                  <a:pt x="4341435" y="2408870"/>
                </a:lnTo>
                <a:lnTo>
                  <a:pt x="4340548" y="2412798"/>
                </a:lnTo>
                <a:lnTo>
                  <a:pt x="4351634" y="2443869"/>
                </a:lnTo>
                <a:cubicBezTo>
                  <a:pt x="4370557" y="2458176"/>
                  <a:pt x="4365119" y="2472379"/>
                  <a:pt x="4380688" y="2504819"/>
                </a:cubicBezTo>
                <a:cubicBezTo>
                  <a:pt x="4393528" y="2510493"/>
                  <a:pt x="4397884" y="2522485"/>
                  <a:pt x="4399892" y="2537002"/>
                </a:cubicBezTo>
                <a:cubicBezTo>
                  <a:pt x="4420218" y="2562143"/>
                  <a:pt x="4430910" y="2594831"/>
                  <a:pt x="4449690" y="2628144"/>
                </a:cubicBezTo>
                <a:cubicBezTo>
                  <a:pt x="4468446" y="2678770"/>
                  <a:pt x="4488860" y="2772681"/>
                  <a:pt x="4512427" y="2840755"/>
                </a:cubicBezTo>
                <a:lnTo>
                  <a:pt x="4591091" y="3036586"/>
                </a:lnTo>
                <a:cubicBezTo>
                  <a:pt x="4639934" y="3158078"/>
                  <a:pt x="4730818" y="3310586"/>
                  <a:pt x="4757297" y="3388741"/>
                </a:cubicBezTo>
                <a:cubicBezTo>
                  <a:pt x="4756620" y="3412898"/>
                  <a:pt x="4755942" y="3437054"/>
                  <a:pt x="4755264" y="3461211"/>
                </a:cubicBezTo>
                <a:cubicBezTo>
                  <a:pt x="4763881" y="3469559"/>
                  <a:pt x="4774382" y="3498341"/>
                  <a:pt x="4776842" y="3503606"/>
                </a:cubicBezTo>
                <a:cubicBezTo>
                  <a:pt x="4776789" y="3503947"/>
                  <a:pt x="4816006" y="3543555"/>
                  <a:pt x="4815953" y="3543897"/>
                </a:cubicBezTo>
                <a:lnTo>
                  <a:pt x="4826382" y="3589602"/>
                </a:lnTo>
                <a:cubicBezTo>
                  <a:pt x="4854724" y="3618181"/>
                  <a:pt x="4872282" y="3672884"/>
                  <a:pt x="4900664" y="3697326"/>
                </a:cubicBezTo>
                <a:cubicBezTo>
                  <a:pt x="4872593" y="3751610"/>
                  <a:pt x="4889332" y="3712092"/>
                  <a:pt x="4944717" y="3795461"/>
                </a:cubicBezTo>
                <a:cubicBezTo>
                  <a:pt x="4981269" y="3830092"/>
                  <a:pt x="4951776" y="3836266"/>
                  <a:pt x="4981260" y="3887734"/>
                </a:cubicBezTo>
                <a:cubicBezTo>
                  <a:pt x="4992187" y="3900180"/>
                  <a:pt x="5000945" y="3922491"/>
                  <a:pt x="5000423" y="3933089"/>
                </a:cubicBezTo>
                <a:lnTo>
                  <a:pt x="5033013" y="3937041"/>
                </a:lnTo>
                <a:lnTo>
                  <a:pt x="5081597" y="4013154"/>
                </a:lnTo>
                <a:lnTo>
                  <a:pt x="5088052" y="4027525"/>
                </a:lnTo>
                <a:lnTo>
                  <a:pt x="5189054" y="4098668"/>
                </a:lnTo>
                <a:lnTo>
                  <a:pt x="5228545" y="4146658"/>
                </a:lnTo>
                <a:lnTo>
                  <a:pt x="5268336" y="4194504"/>
                </a:lnTo>
                <a:cubicBezTo>
                  <a:pt x="5282676" y="4201217"/>
                  <a:pt x="5302948" y="4267012"/>
                  <a:pt x="5317950" y="4267325"/>
                </a:cubicBezTo>
                <a:cubicBezTo>
                  <a:pt x="5371561" y="4431932"/>
                  <a:pt x="5512417" y="4438996"/>
                  <a:pt x="5598270" y="4563876"/>
                </a:cubicBezTo>
                <a:cubicBezTo>
                  <a:pt x="5684123" y="4688756"/>
                  <a:pt x="5658748" y="4766617"/>
                  <a:pt x="5833068" y="5016605"/>
                </a:cubicBezTo>
                <a:cubicBezTo>
                  <a:pt x="5917959" y="5167124"/>
                  <a:pt x="6007541" y="5258633"/>
                  <a:pt x="6045916" y="5405287"/>
                </a:cubicBezTo>
                <a:cubicBezTo>
                  <a:pt x="6053001" y="5431110"/>
                  <a:pt x="6137180" y="5517469"/>
                  <a:pt x="6117737" y="5538137"/>
                </a:cubicBezTo>
                <a:cubicBezTo>
                  <a:pt x="6096856" y="5567956"/>
                  <a:pt x="6185855" y="5633330"/>
                  <a:pt x="6144230" y="5635151"/>
                </a:cubicBezTo>
                <a:cubicBezTo>
                  <a:pt x="6206267" y="5682015"/>
                  <a:pt x="6167034" y="5753331"/>
                  <a:pt x="6176742" y="5809044"/>
                </a:cubicBezTo>
                <a:cubicBezTo>
                  <a:pt x="6181644" y="5871497"/>
                  <a:pt x="6197878" y="5926431"/>
                  <a:pt x="6245199" y="6038018"/>
                </a:cubicBezTo>
                <a:cubicBezTo>
                  <a:pt x="6276717" y="6104340"/>
                  <a:pt x="6288745" y="6124315"/>
                  <a:pt x="6303931" y="6175618"/>
                </a:cubicBezTo>
                <a:cubicBezTo>
                  <a:pt x="6319117" y="6226921"/>
                  <a:pt x="6298592" y="6320971"/>
                  <a:pt x="6336313" y="6345837"/>
                </a:cubicBezTo>
                <a:cubicBezTo>
                  <a:pt x="6368454" y="6400251"/>
                  <a:pt x="6388884" y="6464262"/>
                  <a:pt x="6401195" y="6542084"/>
                </a:cubicBezTo>
                <a:lnTo>
                  <a:pt x="6408310" y="6612865"/>
                </a:lnTo>
                <a:lnTo>
                  <a:pt x="1146484" y="6912725"/>
                </a:lnTo>
                <a:lnTo>
                  <a:pt x="1108438" y="6825083"/>
                </a:lnTo>
                <a:cubicBezTo>
                  <a:pt x="1057133" y="6684904"/>
                  <a:pt x="1090669" y="6637010"/>
                  <a:pt x="997867" y="6378703"/>
                </a:cubicBezTo>
                <a:cubicBezTo>
                  <a:pt x="956253" y="6228487"/>
                  <a:pt x="874761" y="6010797"/>
                  <a:pt x="858750" y="5923784"/>
                </a:cubicBezTo>
                <a:cubicBezTo>
                  <a:pt x="856924" y="5899993"/>
                  <a:pt x="844018" y="5873122"/>
                  <a:pt x="860408" y="5860728"/>
                </a:cubicBezTo>
                <a:cubicBezTo>
                  <a:pt x="878957" y="5840950"/>
                  <a:pt x="823834" y="5761906"/>
                  <a:pt x="853644" y="5771381"/>
                </a:cubicBezTo>
                <a:cubicBezTo>
                  <a:pt x="815383" y="5715186"/>
                  <a:pt x="852133" y="5665047"/>
                  <a:pt x="852164" y="5615193"/>
                </a:cubicBezTo>
                <a:cubicBezTo>
                  <a:pt x="817076" y="5571334"/>
                  <a:pt x="851740" y="5509975"/>
                  <a:pt x="831986" y="5402745"/>
                </a:cubicBezTo>
                <a:cubicBezTo>
                  <a:pt x="792037" y="5354630"/>
                  <a:pt x="819063" y="5330513"/>
                  <a:pt x="759590" y="5239800"/>
                </a:cubicBezTo>
                <a:cubicBezTo>
                  <a:pt x="762665" y="5236543"/>
                  <a:pt x="765245" y="5232371"/>
                  <a:pt x="767251" y="5227414"/>
                </a:cubicBezTo>
                <a:cubicBezTo>
                  <a:pt x="778914" y="5198604"/>
                  <a:pt x="769142" y="5150045"/>
                  <a:pt x="745427" y="5118958"/>
                </a:cubicBezTo>
                <a:cubicBezTo>
                  <a:pt x="660991" y="4975263"/>
                  <a:pt x="672599" y="4907855"/>
                  <a:pt x="635950" y="4788294"/>
                </a:cubicBezTo>
                <a:cubicBezTo>
                  <a:pt x="600650" y="4653678"/>
                  <a:pt x="646752" y="4690694"/>
                  <a:pt x="558787" y="4518070"/>
                </a:cubicBezTo>
                <a:cubicBezTo>
                  <a:pt x="577057" y="4502442"/>
                  <a:pt x="573633" y="4481342"/>
                  <a:pt x="555530" y="4444433"/>
                </a:cubicBezTo>
                <a:cubicBezTo>
                  <a:pt x="540027" y="4379200"/>
                  <a:pt x="596616" y="4390343"/>
                  <a:pt x="549378" y="4320965"/>
                </a:cubicBezTo>
                <a:cubicBezTo>
                  <a:pt x="581692" y="4336040"/>
                  <a:pt x="535024" y="4198883"/>
                  <a:pt x="572361" y="4232369"/>
                </a:cubicBezTo>
                <a:cubicBezTo>
                  <a:pt x="590648" y="4193014"/>
                  <a:pt x="541489" y="4167113"/>
                  <a:pt x="556288" y="4127673"/>
                </a:cubicBezTo>
                <a:lnTo>
                  <a:pt x="506660" y="3821119"/>
                </a:lnTo>
                <a:cubicBezTo>
                  <a:pt x="481478" y="3781010"/>
                  <a:pt x="483894" y="3751446"/>
                  <a:pt x="494791" y="3723556"/>
                </a:cubicBezTo>
                <a:cubicBezTo>
                  <a:pt x="472516" y="3634460"/>
                  <a:pt x="499836" y="3607209"/>
                  <a:pt x="490230" y="3508893"/>
                </a:cubicBezTo>
                <a:cubicBezTo>
                  <a:pt x="525541" y="3397546"/>
                  <a:pt x="482951" y="3307116"/>
                  <a:pt x="484223" y="3233179"/>
                </a:cubicBezTo>
                <a:cubicBezTo>
                  <a:pt x="465844" y="3133672"/>
                  <a:pt x="460855" y="3219289"/>
                  <a:pt x="460329" y="3041244"/>
                </a:cubicBezTo>
                <a:lnTo>
                  <a:pt x="407197" y="2812292"/>
                </a:lnTo>
                <a:cubicBezTo>
                  <a:pt x="391019" y="2768219"/>
                  <a:pt x="344571" y="2745090"/>
                  <a:pt x="386122" y="2757841"/>
                </a:cubicBezTo>
                <a:cubicBezTo>
                  <a:pt x="381879" y="2743275"/>
                  <a:pt x="360306" y="2721346"/>
                  <a:pt x="363684" y="2714608"/>
                </a:cubicBezTo>
                <a:lnTo>
                  <a:pt x="330746" y="2625146"/>
                </a:lnTo>
                <a:lnTo>
                  <a:pt x="299927" y="2566177"/>
                </a:lnTo>
                <a:cubicBezTo>
                  <a:pt x="300505" y="2524092"/>
                  <a:pt x="287694" y="2482008"/>
                  <a:pt x="288272" y="2439923"/>
                </a:cubicBezTo>
                <a:cubicBezTo>
                  <a:pt x="243273" y="2349673"/>
                  <a:pt x="278610" y="2382839"/>
                  <a:pt x="233611" y="2326248"/>
                </a:cubicBezTo>
                <a:lnTo>
                  <a:pt x="115057" y="212791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0DCC08-BC24-9D05-C742-7CCAAA600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7160" y="2342917"/>
            <a:ext cx="17583496" cy="255893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de-AT" sz="8000" b="1" dirty="0"/>
              <a:t>Zeitplan &amp; Meilensteine 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de-DE" sz="7900" b="1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de-DE" sz="79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de-DE" sz="79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7C1DD4C-1D60-75C1-03E9-F44A577DD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081437" y="7165385"/>
            <a:ext cx="26120035" cy="1462409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EE3F071-707D-5B44-708A-CF30A8C1C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7160" y="5124325"/>
            <a:ext cx="16874065" cy="22413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6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M1 – Definition &amp; Konzeption (März):</a:t>
            </a:r>
            <a:r>
              <a:rPr kumimoji="0" lang="de-DE" altLang="de-DE" sz="6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Problemstellung, Zielsetzung und Forschungsfragen sind finalisiert.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6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M2 – Fundament &amp; Struktur (April):</a:t>
            </a:r>
            <a:r>
              <a:rPr kumimoji="0" lang="de-DE" altLang="de-DE" sz="6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Abschluss der systematischen Literaturrecherche (SLR) sowie Festlegung der Paper-Struktur und Methodik.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6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M3 – Empirie &amp; Ausarbeitung (Juni):</a:t>
            </a:r>
            <a:r>
              <a:rPr kumimoji="0" lang="de-DE" altLang="de-DE" sz="6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Durchführung und Auswertung der Experten-Interviews, Finalisierung des Projektpapers und Erstellung des Poster-Konzepts.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6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Abschlussevent – Finale (Juli):</a:t>
            </a:r>
            <a:r>
              <a:rPr kumimoji="0" lang="de-DE" altLang="de-DE" sz="6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Fertigstellung des Posters, Projektabschluss und Präsentation der Ergebnisse beim Abschlussevent.</a:t>
            </a:r>
          </a:p>
        </p:txBody>
      </p:sp>
    </p:spTree>
    <p:extLst>
      <p:ext uri="{BB962C8B-B14F-4D97-AF65-F5344CB8AC3E}">
        <p14:creationId xmlns:p14="http://schemas.microsoft.com/office/powerpoint/2010/main" val="1091182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317</Words>
  <Application>Microsoft Office PowerPoint</Application>
  <PresentationFormat>Benutzerdefiniert</PresentationFormat>
  <Paragraphs>27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Google Sans Text</vt:lpstr>
      <vt:lpstr>Times New Roman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Company>MegaPrint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36x48 vertical poster template</dc:title>
  <dc:subject/>
  <dc:creator>Jay Buckley</dc:creator>
  <dc:description>Call if we can help   800-590-7850_x000d_
_x000d_
(c) Copyright MegaPrint 2001</dc:description>
  <cp:lastModifiedBy>Wiesinger Kerstin</cp:lastModifiedBy>
  <cp:revision>249</cp:revision>
  <cp:lastPrinted>2000-08-03T00:31:24Z</cp:lastPrinted>
  <dcterms:created xsi:type="dcterms:W3CDTF">2000-02-09T15:01:13Z</dcterms:created>
  <dcterms:modified xsi:type="dcterms:W3CDTF">2026-03-22T19:45:53Z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MegaPrint Inc.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Benutzerdefiniert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</vt:i4>
  </property>
</Properties>
</file>